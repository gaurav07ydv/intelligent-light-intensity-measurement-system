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notesMaster" Target="notesMasters/notesMaster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viewProps" Target="view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7943B069-D68E-F74D-96AA-B001F04C32E9}" type="datetimeFigureOut">
              <a:rPr lang="en-US" smtClean="0"/>
              <a:t>4/3/2026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31E2BD90-52BD-3248-94D2-D25ABC99DEC4}" type="slidenum">
              <a:rPr lang="en-US" smtClean="0"/>
              <a:t>‹#›</a:t>
            </a:fld>
            <a:endParaRPr lang="en-US"/>
          </a:p>
        </p:txBody>
      </p:sp>
    </p:spTree>
    <p:extLst>
      <p:ext uri="{BB962C8B-B14F-4D97-AF65-F5344CB8AC3E}">
        <p14:creationId xmlns:p14="http://schemas.microsoft.com/office/powerpoint/2010/main" val="223926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Good morning everyone. Our project is an intelligent light intensity measurement system with auto-calibration using machine learning. The goal of this project is to improve the reliability of low-cost light sensing and use it in a practical smart home lighting prototype.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problem is that low-cost light sensors like LDRs are easy to use, but their readings are nonlinear and unreliable for accurate lux measurement. Because of this, direct light control using raw values is not dependable.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existing systems, raw LDR values are used directly for automation. That is the weakness. Since the values are not calibrated, the system may make incorrect decisions and reduce reliability.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solution is to calibrate the low-cost LDR using machine learning. We use TSL2561 as the reference sensor during training, BH1750 for validation, and DHT22 for temperature monitoring. Instead of using raw LDR values, we predict calibrated lux and use that for control.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shows the hardware and software stack. ESP32 is the main controller. The sensors provide measurement and validation, OLED shows real-time values, and the MOSFET controls the LED strip. Python was used for dataset handling and model development.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system starts with sensor data collection. ESP32 reads all sensor values, then uses the calibration logic to estimate calibrated lux. This value is displayed and compared with a threshold. Based on the result, the MOSFET turns the LED ON or OFF.</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generated a dataset by recording LDR, temperature, TSL2561, and BH1750 values under different indoor lighting conditions. TSL2561 was used as the reference target for the machine learning model, and the model learned to predict calibrated lux from raw sensor inputs.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results show that the system was able to predict calibrated lux from raw inputs and use it for lighting control. The comparison graph is important because it shows that calibrated output is more meaningful than direct raw sensor readings.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comparison graph is the most important visual proof of the project. It shows that the calibrated lux output closely matches the accurate TSL2561 reference, while raw LDR is unreliable and noisy. This validates the ML calibration approach.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make the project application-oriented, we built a house model and demonstrated automatic lighting control in an indoor environment. This shows how calibrated light sensing can be used in smart home lighting. In future, the same concept can be extended to IoT systems, multi-room setups, and larger lighting applications.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conclusion, our project improves the usefulness of a low-cost LDR sensor through machine learning-based calibration. It predicts calibrated lux in real time and uses it for automatic light control. The smart house prototype demonstrates that this approach is practical for indoor automation.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1.xml" /><Relationship Id="rId4" Type="http://schemas.openxmlformats.org/officeDocument/2006/relationships/image" Target="../media/image2.jpeg" /></Relationships>
</file>

<file path=ppt/slides/_rels/slide2.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2.xml" /><Relationship Id="rId1" Type="http://schemas.openxmlformats.org/officeDocument/2006/relationships/slideLayout" Target="../slideLayouts/slideLayout1.xml" /><Relationship Id="rId4" Type="http://schemas.openxmlformats.org/officeDocument/2006/relationships/image" Target="../media/image4.jpeg" /></Relationships>
</file>

<file path=ppt/slides/_rels/slide3.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4.xml" /><Relationship Id="rId1" Type="http://schemas.openxmlformats.org/officeDocument/2006/relationships/slideLayout" Target="../slideLayouts/slideLayout1.xml" /><Relationship Id="rId4" Type="http://schemas.openxmlformats.org/officeDocument/2006/relationships/image" Target="../media/image6.jpeg" /></Relationships>
</file>

<file path=ppt/slides/_rels/slide5.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5.xml" /><Relationship Id="rId1" Type="http://schemas.openxmlformats.org/officeDocument/2006/relationships/slideLayout" Target="../slideLayouts/slideLayout1.xml" /><Relationship Id="rId4" Type="http://schemas.openxmlformats.org/officeDocument/2006/relationships/image" Target="../media/image8.jpeg" /></Relationships>
</file>

<file path=ppt/slides/_rels/slide6.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notesSlide" Target="../notesSlides/notesSlide7.xml" /><Relationship Id="rId1" Type="http://schemas.openxmlformats.org/officeDocument/2006/relationships/slideLayout" Target="../slideLayouts/slideLayout1.xml" /><Relationship Id="rId4" Type="http://schemas.openxmlformats.org/officeDocument/2006/relationships/image" Target="../media/image11.jpg" /></Relationships>
</file>

<file path=ppt/slides/_rels/slide8.xml.rels><?xml version="1.0" encoding="UTF-8" standalone="yes"?>
<Relationships xmlns="http://schemas.openxmlformats.org/package/2006/relationships"><Relationship Id="rId3" Type="http://schemas.openxmlformats.org/officeDocument/2006/relationships/image" Target="../media/image12.png" /><Relationship Id="rId2" Type="http://schemas.openxmlformats.org/officeDocument/2006/relationships/notesSlide" Target="../notesSlides/notesSlide8.xml" /><Relationship Id="rId1" Type="http://schemas.openxmlformats.org/officeDocument/2006/relationships/slideLayout" Target="../slideLayouts/slideLayout1.xml" /><Relationship Id="rId5" Type="http://schemas.openxmlformats.org/officeDocument/2006/relationships/image" Target="../media/image14.jpg" /><Relationship Id="rId4" Type="http://schemas.openxmlformats.org/officeDocument/2006/relationships/image" Target="../media/image13.jpg" /></Relationships>
</file>

<file path=ppt/slides/_rels/slide9.xml.rels><?xml version="1.0" encoding="UTF-8" standalone="yes"?>
<Relationships xmlns="http://schemas.openxmlformats.org/package/2006/relationships"><Relationship Id="rId3" Type="http://schemas.openxmlformats.org/officeDocument/2006/relationships/image" Target="../media/image15.jpg" /><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3" Type="http://schemas.openxmlformats.org/officeDocument/2006/relationships/image" Target="../media/image16.png" /><Relationship Id="rId2" Type="http://schemas.openxmlformats.org/officeDocument/2006/relationships/notesSlide" Target="../notesSlides/notesSlide10.xml" /><Relationship Id="rId1" Type="http://schemas.openxmlformats.org/officeDocument/2006/relationships/slideLayout" Target="../slideLayouts/slideLayout1.xml" /><Relationship Id="rId4" Type="http://schemas.openxmlformats.org/officeDocument/2006/relationships/image" Target="../media/image17.jpeg" /></Relationships>
</file>

<file path=ppt/slides/_rels/slide11.xml.rels><?xml version="1.0" encoding="UTF-8" standalone="yes"?>
<Relationships xmlns="http://schemas.openxmlformats.org/package/2006/relationships"><Relationship Id="rId3" Type="http://schemas.openxmlformats.org/officeDocument/2006/relationships/image" Target="../media/image18.png" /><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0D1A"/>
        </a:solidFill>
        <a:effectLst/>
      </p:bgPr>
    </p:bg>
    <p:spTree>
      <p:nvGrpSpPr>
        <p:cNvPr id="1" name=""/>
        <p:cNvGrpSpPr/>
        <p:nvPr/>
      </p:nvGrpSpPr>
      <p:grpSpPr>
        <a:xfrm>
          <a:off x="0" y="0"/>
          <a:ext cx="0" cy="0"/>
          <a:chOff x="0" y="0"/>
          <a:chExt cx="0" cy="0"/>
        </a:xfrm>
      </p:grpSpPr>
      <p:sp>
        <p:nvSpPr>
          <p:cNvPr id="2" name="Shape 0"/>
          <p:cNvSpPr/>
          <p:nvPr/>
        </p:nvSpPr>
        <p:spPr>
          <a:xfrm>
            <a:off x="6217920" y="-1097280"/>
            <a:ext cx="4114800" cy="4114800"/>
          </a:xfrm>
          <a:prstGeom prst="ellipse">
            <a:avLst/>
          </a:prstGeom>
          <a:solidFill>
            <a:srgbClr val="F5A623">
              <a:alpha val="10000"/>
            </a:srgbClr>
          </a:solidFill>
          <a:ln/>
        </p:spPr>
      </p:sp>
      <p:sp>
        <p:nvSpPr>
          <p:cNvPr id="3" name="Shape 1"/>
          <p:cNvSpPr/>
          <p:nvPr/>
        </p:nvSpPr>
        <p:spPr>
          <a:xfrm>
            <a:off x="7132320" y="-640080"/>
            <a:ext cx="2560320" cy="2560320"/>
          </a:xfrm>
          <a:prstGeom prst="ellipse">
            <a:avLst/>
          </a:prstGeom>
          <a:solidFill>
            <a:srgbClr val="F5A623">
              <a:alpha val="22000"/>
            </a:srgbClr>
          </a:solidFill>
          <a:ln/>
        </p:spPr>
      </p:sp>
      <p:sp>
        <p:nvSpPr>
          <p:cNvPr id="4" name="Shape 2"/>
          <p:cNvSpPr/>
          <p:nvPr/>
        </p:nvSpPr>
        <p:spPr>
          <a:xfrm>
            <a:off x="7863840" y="-91440"/>
            <a:ext cx="1371600" cy="1371600"/>
          </a:xfrm>
          <a:prstGeom prst="ellipse">
            <a:avLst/>
          </a:prstGeom>
          <a:solidFill>
            <a:srgbClr val="F5A623">
              <a:alpha val="42000"/>
            </a:srgbClr>
          </a:solidFill>
          <a:ln/>
        </p:spPr>
      </p:sp>
      <p:sp>
        <p:nvSpPr>
          <p:cNvPr id="5" name="Shape 3"/>
          <p:cNvSpPr/>
          <p:nvPr/>
        </p:nvSpPr>
        <p:spPr>
          <a:xfrm>
            <a:off x="0" y="0"/>
            <a:ext cx="9144000" cy="64008"/>
          </a:xfrm>
          <a:prstGeom prst="rect">
            <a:avLst/>
          </a:prstGeom>
          <a:solidFill>
            <a:srgbClr val="F5A623"/>
          </a:solidFill>
          <a:ln w="12700">
            <a:solidFill>
              <a:srgbClr val="F5A623"/>
            </a:solidFill>
            <a:prstDash val="solid"/>
          </a:ln>
        </p:spPr>
      </p:sp>
      <p:sp>
        <p:nvSpPr>
          <p:cNvPr id="6" name="Shape 4"/>
          <p:cNvSpPr/>
          <p:nvPr/>
        </p:nvSpPr>
        <p:spPr>
          <a:xfrm>
            <a:off x="365760" y="164592"/>
            <a:ext cx="1920240" cy="310896"/>
          </a:xfrm>
          <a:prstGeom prst="rect">
            <a:avLst/>
          </a:prstGeom>
          <a:solidFill>
            <a:srgbClr val="F5A623"/>
          </a:solidFill>
          <a:ln w="12700">
            <a:solidFill>
              <a:srgbClr val="F5A623"/>
            </a:solidFill>
            <a:prstDash val="solid"/>
          </a:ln>
        </p:spPr>
      </p:sp>
      <p:sp>
        <p:nvSpPr>
          <p:cNvPr id="7" name="Text 5"/>
          <p:cNvSpPr/>
          <p:nvPr/>
        </p:nvSpPr>
        <p:spPr>
          <a:xfrm>
            <a:off x="365760" y="164592"/>
            <a:ext cx="1920240" cy="310896"/>
          </a:xfrm>
          <a:prstGeom prst="rect">
            <a:avLst/>
          </a:prstGeom>
          <a:noFill/>
          <a:ln/>
        </p:spPr>
        <p:txBody>
          <a:bodyPr wrap="square" rtlCol="0" anchor="ctr"/>
          <a:lstStyle/>
          <a:p>
            <a:pPr marL="0" indent="0" algn="ctr">
              <a:buNone/>
            </a:pPr>
            <a:r>
              <a:rPr lang="en-US" sz="1000" b="1">
                <a:solidFill>
                  <a:srgbClr val="040D1A"/>
                </a:solidFill>
                <a:latin typeface="Calibri" pitchFamily="34" charset="0"/>
                <a:ea typeface="Calibri" pitchFamily="34" charset="-122"/>
                <a:cs typeface="Calibri" pitchFamily="34" charset="-120"/>
              </a:rPr>
              <a:t>HackFusion 2k26</a:t>
            </a:r>
            <a:endParaRPr lang="en-US" sz="1000"/>
          </a:p>
        </p:txBody>
      </p:sp>
      <p:sp>
        <p:nvSpPr>
          <p:cNvPr id="8" name="Text 6"/>
          <p:cNvSpPr/>
          <p:nvPr/>
        </p:nvSpPr>
        <p:spPr>
          <a:xfrm>
            <a:off x="457200" y="640080"/>
            <a:ext cx="6583680" cy="1325880"/>
          </a:xfrm>
          <a:prstGeom prst="rect">
            <a:avLst/>
          </a:prstGeom>
          <a:noFill/>
          <a:ln/>
        </p:spPr>
        <p:txBody>
          <a:bodyPr wrap="square" rtlCol="0" anchor="ctr"/>
          <a:lstStyle/>
          <a:p>
            <a:pPr marL="0" indent="0" algn="l">
              <a:buNone/>
            </a:pPr>
            <a:r>
              <a:rPr lang="en-US" sz="3600" b="1">
                <a:solidFill>
                  <a:srgbClr val="FFFFFF"/>
                </a:solidFill>
                <a:latin typeface="Calibri" pitchFamily="34" charset="0"/>
                <a:ea typeface="Calibri" pitchFamily="34" charset="-122"/>
                <a:cs typeface="Calibri" pitchFamily="34" charset="-120"/>
              </a:rPr>
              <a:t>Intelligent Light Intensity</a:t>
            </a:r>
            <a:endParaRPr lang="en-US" sz="3600"/>
          </a:p>
          <a:p>
            <a:pPr marL="0" indent="0" algn="l">
              <a:buNone/>
            </a:pPr>
            <a:r>
              <a:rPr lang="en-US" sz="3600" b="1">
                <a:solidFill>
                  <a:srgbClr val="FFFFFF"/>
                </a:solidFill>
                <a:latin typeface="Calibri" pitchFamily="34" charset="0"/>
                <a:ea typeface="Calibri" pitchFamily="34" charset="-122"/>
                <a:cs typeface="Calibri" pitchFamily="34" charset="-120"/>
              </a:rPr>
              <a:t>Measurement System</a:t>
            </a:r>
            <a:endParaRPr lang="en-US" sz="3600"/>
          </a:p>
        </p:txBody>
      </p:sp>
      <p:sp>
        <p:nvSpPr>
          <p:cNvPr id="9" name="Text 7"/>
          <p:cNvSpPr/>
          <p:nvPr/>
        </p:nvSpPr>
        <p:spPr>
          <a:xfrm>
            <a:off x="457200" y="1938528"/>
            <a:ext cx="6858000" cy="420624"/>
          </a:xfrm>
          <a:prstGeom prst="rect">
            <a:avLst/>
          </a:prstGeom>
          <a:noFill/>
          <a:ln/>
        </p:spPr>
        <p:txBody>
          <a:bodyPr wrap="square" rtlCol="0" anchor="ctr"/>
          <a:lstStyle/>
          <a:p>
            <a:pPr marL="0" indent="0" algn="l">
              <a:buNone/>
            </a:pPr>
            <a:r>
              <a:rPr lang="en-US" sz="1700" i="1">
                <a:solidFill>
                  <a:srgbClr val="FFD580"/>
                </a:solidFill>
                <a:latin typeface="Calibri" pitchFamily="34" charset="0"/>
                <a:ea typeface="Calibri" pitchFamily="34" charset="-122"/>
                <a:cs typeface="Calibri" pitchFamily="34" charset="-120"/>
              </a:rPr>
              <a:t>with Auto-Calibration Using Machine Learning</a:t>
            </a:r>
            <a:endParaRPr lang="en-US" sz="1700"/>
          </a:p>
        </p:txBody>
      </p:sp>
      <p:sp>
        <p:nvSpPr>
          <p:cNvPr id="10" name="Shape 8"/>
          <p:cNvSpPr/>
          <p:nvPr/>
        </p:nvSpPr>
        <p:spPr>
          <a:xfrm>
            <a:off x="457200" y="2468880"/>
            <a:ext cx="4572000" cy="45720"/>
          </a:xfrm>
          <a:prstGeom prst="rect">
            <a:avLst/>
          </a:prstGeom>
          <a:solidFill>
            <a:srgbClr val="00B4D8"/>
          </a:solidFill>
          <a:ln w="12700">
            <a:solidFill>
              <a:srgbClr val="00B4D8"/>
            </a:solidFill>
            <a:prstDash val="solid"/>
          </a:ln>
        </p:spPr>
      </p:sp>
      <p:sp>
        <p:nvSpPr>
          <p:cNvPr id="11" name="Text 9"/>
          <p:cNvSpPr/>
          <p:nvPr/>
        </p:nvSpPr>
        <p:spPr>
          <a:xfrm>
            <a:off x="457200" y="2606040"/>
            <a:ext cx="5897880" cy="2214154"/>
          </a:xfrm>
          <a:prstGeom prst="rect">
            <a:avLst/>
          </a:prstGeom>
          <a:noFill/>
          <a:ln/>
        </p:spPr>
        <p:txBody>
          <a:bodyPr wrap="square" rtlCol="0" anchor="t"/>
          <a:lstStyle/>
          <a:p>
            <a:pPr marL="0" indent="0" algn="l">
              <a:buNone/>
            </a:pPr>
            <a:r>
              <a:rPr lang="en-US" sz="1300" b="1">
                <a:solidFill>
                  <a:srgbClr val="FFD580"/>
                </a:solidFill>
                <a:latin typeface="Calibri" pitchFamily="34" charset="0"/>
                <a:ea typeface="Calibri" pitchFamily="34" charset="-122"/>
                <a:cs typeface="Calibri" pitchFamily="34" charset="-120"/>
              </a:rPr>
              <a:t>Team  </a:t>
            </a:r>
            <a:r>
              <a:rPr lang="en-US" sz="1300">
                <a:solidFill>
                  <a:srgbClr val="E8F0FF"/>
                </a:solidFill>
                <a:latin typeface="Calibri" pitchFamily="34" charset="0"/>
                <a:ea typeface="Calibri" pitchFamily="34" charset="-122"/>
                <a:cs typeface="Calibri" pitchFamily="34" charset="-120"/>
              </a:rPr>
              <a:t>[</a:t>
            </a:r>
            <a:r>
              <a:rPr lang="en-US" sz="1300" err="1">
                <a:solidFill>
                  <a:srgbClr val="E8F0FF"/>
                </a:solidFill>
                <a:latin typeface="Calibri" pitchFamily="34" charset="0"/>
                <a:ea typeface="Calibri" pitchFamily="34" charset="-122"/>
                <a:cs typeface="Calibri" pitchFamily="34" charset="-120"/>
              </a:rPr>
              <a:t>LuxSense</a:t>
            </a:r>
            <a:r>
              <a:rPr lang="en-US" sz="1300">
                <a:solidFill>
                  <a:srgbClr val="E8F0FF"/>
                </a:solidFill>
                <a:latin typeface="Calibri" pitchFamily="34" charset="0"/>
                <a:ea typeface="Calibri" pitchFamily="34" charset="-122"/>
                <a:cs typeface="Calibri" pitchFamily="34" charset="-120"/>
              </a:rPr>
              <a:t>]</a:t>
            </a:r>
            <a:r>
              <a:rPr lang="en-US" sz="1300">
                <a:solidFill>
                  <a:srgbClr val="000000"/>
                </a:solidFill>
                <a:latin typeface="Calibri" pitchFamily="34" charset="0"/>
                <a:ea typeface="Calibri" pitchFamily="34" charset="-122"/>
                <a:cs typeface="Calibri" pitchFamily="34" charset="-120"/>
              </a:rPr>
              <a:t>
</a:t>
            </a:r>
            <a:r>
              <a:rPr lang="en-US" sz="1300" b="1">
                <a:solidFill>
                  <a:srgbClr val="FFD580"/>
                </a:solidFill>
                <a:latin typeface="Calibri" pitchFamily="34" charset="0"/>
                <a:ea typeface="Calibri" pitchFamily="34" charset="-122"/>
                <a:cs typeface="Calibri" pitchFamily="34" charset="-120"/>
              </a:rPr>
              <a:t>Members  </a:t>
            </a:r>
            <a:r>
              <a:rPr lang="en-US" sz="1300">
                <a:solidFill>
                  <a:srgbClr val="E8F0FF"/>
                </a:solidFill>
                <a:latin typeface="Calibri" pitchFamily="34" charset="0"/>
                <a:ea typeface="Calibri" pitchFamily="34" charset="-122"/>
                <a:cs typeface="Calibri" pitchFamily="34" charset="-120"/>
              </a:rPr>
              <a:t>[Gaurav Yadav]  |  [Radheshyam E.P]  </a:t>
            </a:r>
            <a:r>
              <a:rPr lang="en-US" sz="1300">
                <a:solidFill>
                  <a:srgbClr val="000000"/>
                </a:solidFill>
                <a:latin typeface="Calibri" pitchFamily="34" charset="0"/>
                <a:ea typeface="Calibri" pitchFamily="34" charset="-122"/>
                <a:cs typeface="Calibri" pitchFamily="34" charset="-120"/>
              </a:rPr>
              <a:t>
</a:t>
            </a:r>
            <a:r>
              <a:rPr lang="en-US" sz="1300" b="1">
                <a:solidFill>
                  <a:srgbClr val="FFD580"/>
                </a:solidFill>
                <a:latin typeface="Calibri" pitchFamily="34" charset="0"/>
                <a:ea typeface="Calibri" pitchFamily="34" charset="-122"/>
                <a:cs typeface="Calibri" pitchFamily="34" charset="-120"/>
              </a:rPr>
              <a:t>Dept / </a:t>
            </a:r>
            <a:r>
              <a:rPr lang="en-US" sz="1300" b="1">
                <a:solidFill>
                  <a:schemeClr val="accent4">
                    <a:lumMod val="60000"/>
                    <a:lumOff val="40000"/>
                  </a:schemeClr>
                </a:solidFill>
                <a:latin typeface="Calibri" pitchFamily="34" charset="0"/>
                <a:ea typeface="Calibri" pitchFamily="34" charset="-122"/>
                <a:cs typeface="Calibri" pitchFamily="34" charset="-120"/>
              </a:rPr>
              <a:t>College</a:t>
            </a:r>
            <a:r>
              <a:rPr lang="en-US" sz="1300" b="1">
                <a:solidFill>
                  <a:srgbClr val="FFD580"/>
                </a:solidFill>
                <a:latin typeface="Calibri" pitchFamily="34" charset="0"/>
                <a:ea typeface="Calibri" pitchFamily="34" charset="-122"/>
                <a:cs typeface="Calibri" pitchFamily="34" charset="-120"/>
              </a:rPr>
              <a:t>  </a:t>
            </a:r>
            <a:r>
              <a:rPr lang="en-US" sz="1300">
                <a:solidFill>
                  <a:srgbClr val="E8F0FF"/>
                </a:solidFill>
                <a:latin typeface="Calibri" pitchFamily="34" charset="0"/>
                <a:ea typeface="Calibri" pitchFamily="34" charset="-122"/>
                <a:cs typeface="Calibri" pitchFamily="34" charset="-120"/>
              </a:rPr>
              <a:t>[SRM INSTITUTE OF SCIENCE AND TECHNOLOGY, TIRUCHIRAPPALLI, TAMIL NADU / DEPARTMENT OF ELECTRONICS AND COMMUNICATION ENGINNEERING WITH SPECIALIZATION IN DATA SCIENCE]</a:t>
            </a:r>
          </a:p>
          <a:p>
            <a:pPr marL="0" indent="0" algn="l">
              <a:buNone/>
            </a:pPr>
            <a:endParaRPr lang="en-US" sz="1300" b="1">
              <a:solidFill>
                <a:schemeClr val="accent4"/>
              </a:solidFill>
            </a:endParaRPr>
          </a:p>
          <a:p>
            <a:pPr marL="0" indent="0" algn="l">
              <a:buNone/>
            </a:pPr>
            <a:r>
              <a:rPr lang="en-US" sz="1300" b="1">
                <a:solidFill>
                  <a:schemeClr val="accent4">
                    <a:lumMod val="60000"/>
                    <a:lumOff val="40000"/>
                  </a:schemeClr>
                </a:solidFill>
              </a:rPr>
              <a:t>Mentor of the Project  </a:t>
            </a:r>
            <a:r>
              <a:rPr lang="en-US" sz="1300" b="1">
                <a:solidFill>
                  <a:schemeClr val="bg1"/>
                </a:solidFill>
              </a:rPr>
              <a:t>[</a:t>
            </a:r>
            <a:r>
              <a:rPr lang="en-US" sz="1300">
                <a:solidFill>
                  <a:schemeClr val="bg1"/>
                </a:solidFill>
              </a:rPr>
              <a:t>Dr. A.N. </a:t>
            </a:r>
            <a:r>
              <a:rPr lang="en-US" sz="1300" err="1">
                <a:solidFill>
                  <a:schemeClr val="bg1"/>
                </a:solidFill>
              </a:rPr>
              <a:t>GnanaJeevan</a:t>
            </a:r>
            <a:r>
              <a:rPr lang="en-US" sz="1300">
                <a:solidFill>
                  <a:schemeClr val="bg1"/>
                </a:solidFill>
              </a:rPr>
              <a:t>]</a:t>
            </a:r>
            <a:endParaRPr lang="en-US" sz="1300">
              <a:solidFill>
                <a:schemeClr val="accent4">
                  <a:lumMod val="60000"/>
                  <a:lumOff val="40000"/>
                </a:schemeClr>
              </a:solidFill>
            </a:endParaRPr>
          </a:p>
          <a:p>
            <a:pPr marL="0" indent="0" algn="l">
              <a:buNone/>
            </a:pPr>
            <a:r>
              <a:rPr lang="en-US" sz="1300" b="1">
                <a:solidFill>
                  <a:schemeClr val="accent4">
                    <a:lumMod val="60000"/>
                    <a:lumOff val="40000"/>
                  </a:schemeClr>
                </a:solidFill>
              </a:rPr>
              <a:t>Designation/ Department  </a:t>
            </a:r>
            <a:r>
              <a:rPr lang="en-US" sz="1300">
                <a:solidFill>
                  <a:schemeClr val="bg1"/>
                </a:solidFill>
              </a:rPr>
              <a:t>[Assistant Professor, School of Computing, SRM INSTITUTE OF SCIENCE AND TECHNOLOGY, TIRUCHIRAPPALLI]</a:t>
            </a:r>
          </a:p>
        </p:txBody>
      </p:sp>
      <p:pic>
        <p:nvPicPr>
          <p:cNvPr id="12" name="Image 0" descr="preencoded.png"/>
          <p:cNvPicPr>
            <a:picLocks noChangeAspect="1"/>
          </p:cNvPicPr>
          <p:nvPr/>
        </p:nvPicPr>
        <p:blipFill>
          <a:blip r:embed="rId3"/>
          <a:stretch>
            <a:fillRect/>
          </a:stretch>
        </p:blipFill>
        <p:spPr>
          <a:xfrm>
            <a:off x="7863840" y="731520"/>
            <a:ext cx="822960" cy="822960"/>
          </a:xfrm>
          <a:prstGeom prst="rect">
            <a:avLst/>
          </a:prstGeom>
        </p:spPr>
      </p:pic>
      <p:sp>
        <p:nvSpPr>
          <p:cNvPr id="13" name="Shape 10"/>
          <p:cNvSpPr/>
          <p:nvPr/>
        </p:nvSpPr>
        <p:spPr>
          <a:xfrm>
            <a:off x="6583680" y="2331720"/>
            <a:ext cx="2286000" cy="2377440"/>
          </a:xfrm>
          <a:prstGeom prst="rect">
            <a:avLst/>
          </a:prstGeom>
          <a:solidFill>
            <a:srgbClr val="0A1E35"/>
          </a:solidFill>
          <a:ln w="15240">
            <a:solidFill>
              <a:srgbClr val="F5A623"/>
            </a:solidFill>
            <a:prstDash val="dash"/>
          </a:ln>
        </p:spPr>
      </p:sp>
      <p:sp>
        <p:nvSpPr>
          <p:cNvPr id="14" name="Text 11"/>
          <p:cNvSpPr/>
          <p:nvPr/>
        </p:nvSpPr>
        <p:spPr>
          <a:xfrm>
            <a:off x="6583680" y="2331720"/>
            <a:ext cx="2286000" cy="2377440"/>
          </a:xfrm>
          <a:prstGeom prst="rect">
            <a:avLst/>
          </a:prstGeom>
          <a:noFill/>
          <a:ln/>
        </p:spPr>
        <p:txBody>
          <a:bodyPr wrap="square" rtlCol="0" anchor="ctr"/>
          <a:lstStyle/>
          <a:p>
            <a:pPr marL="0" indent="0" algn="ctr">
              <a:buNone/>
            </a:pPr>
            <a:r>
              <a:rPr lang="en-US" sz="1050" i="1">
                <a:solidFill>
                  <a:srgbClr val="F5A623"/>
                </a:solidFill>
                <a:latin typeface="Calibri" pitchFamily="34" charset="0"/>
                <a:ea typeface="Calibri" pitchFamily="34" charset="-122"/>
                <a:cs typeface="Calibri" pitchFamily="34" charset="-120"/>
              </a:rPr>
              <a:t>[ Prototype</a:t>
            </a:r>
            <a:endParaRPr lang="en-US" sz="1050"/>
          </a:p>
          <a:p>
            <a:pPr marL="0" indent="0" algn="ctr">
              <a:buNone/>
            </a:pPr>
            <a:r>
              <a:rPr lang="en-US" sz="1050" i="1">
                <a:solidFill>
                  <a:srgbClr val="F5A623"/>
                </a:solidFill>
                <a:latin typeface="Calibri" pitchFamily="34" charset="0"/>
                <a:ea typeface="Calibri" pitchFamily="34" charset="-122"/>
                <a:cs typeface="Calibri" pitchFamily="34" charset="-120"/>
              </a:rPr>
              <a:t>Photo</a:t>
            </a:r>
            <a:endParaRPr lang="en-US" sz="1050"/>
          </a:p>
          <a:p>
            <a:pPr marL="0" indent="0" algn="ctr">
              <a:buNone/>
            </a:pPr>
            <a:r>
              <a:rPr lang="en-US" sz="1050" i="1">
                <a:solidFill>
                  <a:srgbClr val="F5A623"/>
                </a:solidFill>
                <a:latin typeface="Calibri" pitchFamily="34" charset="0"/>
                <a:ea typeface="Calibri" pitchFamily="34" charset="-122"/>
                <a:cs typeface="Calibri" pitchFamily="34" charset="-120"/>
              </a:rPr>
              <a:t>(small) ]</a:t>
            </a:r>
            <a:endParaRPr lang="en-US" sz="1050"/>
          </a:p>
        </p:txBody>
      </p:sp>
      <p:sp>
        <p:nvSpPr>
          <p:cNvPr id="15" name="Shape 12"/>
          <p:cNvSpPr/>
          <p:nvPr/>
        </p:nvSpPr>
        <p:spPr>
          <a:xfrm>
            <a:off x="0" y="4919472"/>
            <a:ext cx="9144000" cy="224028"/>
          </a:xfrm>
          <a:prstGeom prst="rect">
            <a:avLst/>
          </a:prstGeom>
          <a:solidFill>
            <a:srgbClr val="0A1E35"/>
          </a:solidFill>
          <a:ln w="12700">
            <a:solidFill>
              <a:srgbClr val="0A1E35"/>
            </a:solidFill>
            <a:prstDash val="solid"/>
          </a:ln>
        </p:spPr>
      </p:sp>
      <p:sp>
        <p:nvSpPr>
          <p:cNvPr id="16" name="Text 13"/>
          <p:cNvSpPr/>
          <p:nvPr/>
        </p:nvSpPr>
        <p:spPr>
          <a:xfrm>
            <a:off x="0" y="4919472"/>
            <a:ext cx="9144000" cy="224028"/>
          </a:xfrm>
          <a:prstGeom prst="rect">
            <a:avLst/>
          </a:prstGeom>
          <a:noFill/>
          <a:ln/>
        </p:spPr>
        <p:txBody>
          <a:bodyPr wrap="square" rtlCol="0" anchor="ctr"/>
          <a:lstStyle/>
          <a:p>
            <a:pPr marL="0" indent="0" algn="ctr">
              <a:buNone/>
            </a:pPr>
            <a:r>
              <a:rPr lang="en-US" sz="900">
                <a:solidFill>
                  <a:srgbClr val="7E93B5"/>
                </a:solidFill>
                <a:latin typeface="Calibri" pitchFamily="34" charset="0"/>
                <a:ea typeface="Calibri" pitchFamily="34" charset="-122"/>
                <a:cs typeface="Calibri" pitchFamily="34" charset="-120"/>
              </a:rPr>
              <a:t>ESP32   •   LDR   •   TSL2561   •   BH1750   •   DHT22   •   Machine Learning   •   Smart Home Automation</a:t>
            </a:r>
            <a:endParaRPr lang="en-US" sz="900"/>
          </a:p>
        </p:txBody>
      </p:sp>
      <p:pic>
        <p:nvPicPr>
          <p:cNvPr id="19" name="Picture 18">
            <a:extLst>
              <a:ext uri="{FF2B5EF4-FFF2-40B4-BE49-F238E27FC236}">
                <a16:creationId xmlns:a16="http://schemas.microsoft.com/office/drawing/2014/main" id="{92DC7C8A-384E-90F3-F8F9-EC049D13C2AB}"/>
              </a:ext>
            </a:extLst>
          </p:cNvPr>
          <p:cNvPicPr>
            <a:picLocks noChangeAspect="1"/>
          </p:cNvPicPr>
          <p:nvPr/>
        </p:nvPicPr>
        <p:blipFill>
          <a:blip r:embed="rId4"/>
          <a:stretch>
            <a:fillRect/>
          </a:stretch>
        </p:blipFill>
        <p:spPr>
          <a:xfrm>
            <a:off x="6536724" y="2286000"/>
            <a:ext cx="2424396" cy="247802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111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A1E35"/>
          </a:solidFill>
          <a:ln w="12700">
            <a:solidFill>
              <a:srgbClr val="0A1E35"/>
            </a:solidFill>
            <a:prstDash val="solid"/>
          </a:ln>
        </p:spPr>
      </p:sp>
      <p:sp>
        <p:nvSpPr>
          <p:cNvPr id="3" name="Shape 1"/>
          <p:cNvSpPr/>
          <p:nvPr/>
        </p:nvSpPr>
        <p:spPr>
          <a:xfrm>
            <a:off x="0" y="0"/>
            <a:ext cx="91440" cy="804672"/>
          </a:xfrm>
          <a:prstGeom prst="rect">
            <a:avLst/>
          </a:prstGeom>
          <a:solidFill>
            <a:srgbClr val="EF4444"/>
          </a:solidFill>
          <a:ln w="12700">
            <a:solidFill>
              <a:srgbClr val="EF4444"/>
            </a:solidFill>
            <a:prstDash val="solid"/>
          </a:ln>
        </p:spPr>
      </p:sp>
      <p:sp>
        <p:nvSpPr>
          <p:cNvPr id="4" name="Text 2"/>
          <p:cNvSpPr/>
          <p:nvPr/>
        </p:nvSpPr>
        <p:spPr>
          <a:xfrm>
            <a:off x="228600" y="0"/>
            <a:ext cx="8686800" cy="804672"/>
          </a:xfrm>
          <a:prstGeom prst="rect">
            <a:avLst/>
          </a:prstGeom>
          <a:noFill/>
          <a:ln/>
        </p:spPr>
        <p:txBody>
          <a:bodyPr wrap="square" rtlCol="0" anchor="ctr"/>
          <a:lstStyle/>
          <a:p>
            <a:pPr marL="0" indent="0" algn="l">
              <a:buNone/>
            </a:pPr>
            <a:r>
              <a:rPr lang="en-US" sz="2600" b="1">
                <a:solidFill>
                  <a:srgbClr val="FFFFFF"/>
                </a:solidFill>
                <a:latin typeface="Calibri" pitchFamily="34" charset="0"/>
                <a:ea typeface="Calibri" pitchFamily="34" charset="-122"/>
                <a:cs typeface="Calibri" pitchFamily="34" charset="-120"/>
              </a:rPr>
              <a:t>Problem Statement</a:t>
            </a:r>
            <a:endParaRPr lang="en-US" sz="2600"/>
          </a:p>
        </p:txBody>
      </p:sp>
      <p:sp>
        <p:nvSpPr>
          <p:cNvPr id="5" name="Shape 3"/>
          <p:cNvSpPr/>
          <p:nvPr/>
        </p:nvSpPr>
        <p:spPr>
          <a:xfrm>
            <a:off x="0" y="804672"/>
            <a:ext cx="91440" cy="4133088"/>
          </a:xfrm>
          <a:prstGeom prst="rect">
            <a:avLst/>
          </a:prstGeom>
          <a:solidFill>
            <a:srgbClr val="EF4444"/>
          </a:solidFill>
          <a:ln w="12700">
            <a:solidFill>
              <a:srgbClr val="EF4444"/>
            </a:solidFill>
            <a:prstDash val="solid"/>
          </a:ln>
        </p:spPr>
      </p:sp>
      <p:pic>
        <p:nvPicPr>
          <p:cNvPr id="6" name="Image 0" descr="preencoded.png"/>
          <p:cNvPicPr>
            <a:picLocks noChangeAspect="1"/>
          </p:cNvPicPr>
          <p:nvPr/>
        </p:nvPicPr>
        <p:blipFill>
          <a:blip r:embed="rId3"/>
          <a:stretch>
            <a:fillRect/>
          </a:stretch>
        </p:blipFill>
        <p:spPr>
          <a:xfrm>
            <a:off x="8229600" y="137160"/>
            <a:ext cx="548640" cy="502920"/>
          </a:xfrm>
          <a:prstGeom prst="rect">
            <a:avLst/>
          </a:prstGeom>
        </p:spPr>
      </p:pic>
      <p:sp>
        <p:nvSpPr>
          <p:cNvPr id="7" name="Shape 4"/>
          <p:cNvSpPr/>
          <p:nvPr/>
        </p:nvSpPr>
        <p:spPr>
          <a:xfrm>
            <a:off x="182880" y="1005840"/>
            <a:ext cx="5394960" cy="566928"/>
          </a:xfrm>
          <a:prstGeom prst="rect">
            <a:avLst/>
          </a:prstGeom>
          <a:solidFill>
            <a:srgbClr val="0A1E35"/>
          </a:solidFill>
          <a:ln w="10160">
            <a:solidFill>
              <a:srgbClr val="EF4444"/>
            </a:solidFill>
            <a:prstDash val="solid"/>
          </a:ln>
        </p:spPr>
      </p:sp>
      <p:sp>
        <p:nvSpPr>
          <p:cNvPr id="8" name="Shape 5"/>
          <p:cNvSpPr/>
          <p:nvPr/>
        </p:nvSpPr>
        <p:spPr>
          <a:xfrm>
            <a:off x="274320" y="1197864"/>
            <a:ext cx="182880" cy="182880"/>
          </a:xfrm>
          <a:prstGeom prst="ellipse">
            <a:avLst/>
          </a:prstGeom>
          <a:solidFill>
            <a:srgbClr val="EF4444"/>
          </a:solidFill>
          <a:ln w="12700">
            <a:solidFill>
              <a:srgbClr val="EF4444"/>
            </a:solidFill>
            <a:prstDash val="solid"/>
          </a:ln>
        </p:spPr>
      </p:sp>
      <p:sp>
        <p:nvSpPr>
          <p:cNvPr id="9" name="Text 6"/>
          <p:cNvSpPr/>
          <p:nvPr/>
        </p:nvSpPr>
        <p:spPr>
          <a:xfrm>
            <a:off x="548640" y="1005840"/>
            <a:ext cx="4937760" cy="566928"/>
          </a:xfrm>
          <a:prstGeom prst="rect">
            <a:avLst/>
          </a:prstGeom>
          <a:noFill/>
          <a:ln/>
        </p:spPr>
        <p:txBody>
          <a:bodyPr wrap="square" rtlCol="0" anchor="ctr"/>
          <a:lstStyle/>
          <a:p>
            <a:pPr marL="0" indent="0" algn="l">
              <a:buNone/>
            </a:pPr>
            <a:r>
              <a:rPr lang="en-US" sz="1300">
                <a:solidFill>
                  <a:srgbClr val="E8F0FF"/>
                </a:solidFill>
                <a:latin typeface="Calibri" pitchFamily="34" charset="0"/>
                <a:ea typeface="Calibri" pitchFamily="34" charset="-122"/>
                <a:cs typeface="Calibri" pitchFamily="34" charset="-120"/>
              </a:rPr>
              <a:t>Accurate light measurement is critical for indoor automation and energy-efficient lighting</a:t>
            </a:r>
            <a:endParaRPr lang="en-US" sz="1300"/>
          </a:p>
        </p:txBody>
      </p:sp>
      <p:sp>
        <p:nvSpPr>
          <p:cNvPr id="10" name="Shape 7"/>
          <p:cNvSpPr/>
          <p:nvPr/>
        </p:nvSpPr>
        <p:spPr>
          <a:xfrm>
            <a:off x="182880" y="1719072"/>
            <a:ext cx="5394960" cy="566928"/>
          </a:xfrm>
          <a:prstGeom prst="rect">
            <a:avLst/>
          </a:prstGeom>
          <a:solidFill>
            <a:srgbClr val="0A1E35"/>
          </a:solidFill>
          <a:ln w="10160">
            <a:solidFill>
              <a:srgbClr val="EF4444"/>
            </a:solidFill>
            <a:prstDash val="solid"/>
          </a:ln>
        </p:spPr>
      </p:sp>
      <p:sp>
        <p:nvSpPr>
          <p:cNvPr id="11" name="Shape 8"/>
          <p:cNvSpPr/>
          <p:nvPr/>
        </p:nvSpPr>
        <p:spPr>
          <a:xfrm>
            <a:off x="274320" y="1911096"/>
            <a:ext cx="182880" cy="182880"/>
          </a:xfrm>
          <a:prstGeom prst="ellipse">
            <a:avLst/>
          </a:prstGeom>
          <a:solidFill>
            <a:srgbClr val="EF4444"/>
          </a:solidFill>
          <a:ln w="12700">
            <a:solidFill>
              <a:srgbClr val="EF4444"/>
            </a:solidFill>
            <a:prstDash val="solid"/>
          </a:ln>
        </p:spPr>
      </p:sp>
      <p:sp>
        <p:nvSpPr>
          <p:cNvPr id="12" name="Text 9"/>
          <p:cNvSpPr/>
          <p:nvPr/>
        </p:nvSpPr>
        <p:spPr>
          <a:xfrm>
            <a:off x="548640" y="1719072"/>
            <a:ext cx="4937760" cy="566928"/>
          </a:xfrm>
          <a:prstGeom prst="rect">
            <a:avLst/>
          </a:prstGeom>
          <a:noFill/>
          <a:ln/>
        </p:spPr>
        <p:txBody>
          <a:bodyPr wrap="square" rtlCol="0" anchor="ctr"/>
          <a:lstStyle/>
          <a:p>
            <a:pPr marL="0" indent="0" algn="l">
              <a:buNone/>
            </a:pPr>
            <a:r>
              <a:rPr lang="en-US" sz="1300">
                <a:solidFill>
                  <a:srgbClr val="E8F0FF"/>
                </a:solidFill>
                <a:latin typeface="Calibri" pitchFamily="34" charset="0"/>
                <a:ea typeface="Calibri" pitchFamily="34" charset="-122"/>
                <a:cs typeface="Calibri" pitchFamily="34" charset="-120"/>
              </a:rPr>
              <a:t>Low-cost sensors like LDR are affordable — but not reliable enough for real use</a:t>
            </a:r>
            <a:endParaRPr lang="en-US" sz="1300"/>
          </a:p>
        </p:txBody>
      </p:sp>
      <p:sp>
        <p:nvSpPr>
          <p:cNvPr id="13" name="Shape 10"/>
          <p:cNvSpPr/>
          <p:nvPr/>
        </p:nvSpPr>
        <p:spPr>
          <a:xfrm>
            <a:off x="182880" y="2432304"/>
            <a:ext cx="5394960" cy="566928"/>
          </a:xfrm>
          <a:prstGeom prst="rect">
            <a:avLst/>
          </a:prstGeom>
          <a:solidFill>
            <a:srgbClr val="0A1E35"/>
          </a:solidFill>
          <a:ln w="10160">
            <a:solidFill>
              <a:srgbClr val="EF4444"/>
            </a:solidFill>
            <a:prstDash val="solid"/>
          </a:ln>
        </p:spPr>
      </p:sp>
      <p:sp>
        <p:nvSpPr>
          <p:cNvPr id="14" name="Shape 11"/>
          <p:cNvSpPr/>
          <p:nvPr/>
        </p:nvSpPr>
        <p:spPr>
          <a:xfrm>
            <a:off x="274320" y="2624328"/>
            <a:ext cx="182880" cy="182880"/>
          </a:xfrm>
          <a:prstGeom prst="ellipse">
            <a:avLst/>
          </a:prstGeom>
          <a:solidFill>
            <a:srgbClr val="EF4444"/>
          </a:solidFill>
          <a:ln w="12700">
            <a:solidFill>
              <a:srgbClr val="EF4444"/>
            </a:solidFill>
            <a:prstDash val="solid"/>
          </a:ln>
        </p:spPr>
      </p:sp>
      <p:sp>
        <p:nvSpPr>
          <p:cNvPr id="15" name="Text 12"/>
          <p:cNvSpPr/>
          <p:nvPr/>
        </p:nvSpPr>
        <p:spPr>
          <a:xfrm>
            <a:off x="548640" y="2432304"/>
            <a:ext cx="4937760" cy="566928"/>
          </a:xfrm>
          <a:prstGeom prst="rect">
            <a:avLst/>
          </a:prstGeom>
          <a:noFill/>
          <a:ln/>
        </p:spPr>
        <p:txBody>
          <a:bodyPr wrap="square" rtlCol="0" anchor="ctr"/>
          <a:lstStyle/>
          <a:p>
            <a:pPr marL="0" indent="0" algn="l">
              <a:buNone/>
            </a:pPr>
            <a:r>
              <a:rPr lang="en-US" sz="1300">
                <a:solidFill>
                  <a:srgbClr val="E8F0FF"/>
                </a:solidFill>
                <a:latin typeface="Calibri" pitchFamily="34" charset="0"/>
                <a:ea typeface="Calibri" pitchFamily="34" charset="-122"/>
                <a:cs typeface="Calibri" pitchFamily="34" charset="-120"/>
              </a:rPr>
              <a:t>Raw LDR values are nonlinear and do not directly represent lux</a:t>
            </a:r>
            <a:endParaRPr lang="en-US" sz="1300"/>
          </a:p>
        </p:txBody>
      </p:sp>
      <p:sp>
        <p:nvSpPr>
          <p:cNvPr id="16" name="Shape 13"/>
          <p:cNvSpPr/>
          <p:nvPr/>
        </p:nvSpPr>
        <p:spPr>
          <a:xfrm>
            <a:off x="182880" y="3145536"/>
            <a:ext cx="5394960" cy="566928"/>
          </a:xfrm>
          <a:prstGeom prst="rect">
            <a:avLst/>
          </a:prstGeom>
          <a:solidFill>
            <a:srgbClr val="0A1E35"/>
          </a:solidFill>
          <a:ln w="10160">
            <a:solidFill>
              <a:srgbClr val="EF4444"/>
            </a:solidFill>
            <a:prstDash val="solid"/>
          </a:ln>
        </p:spPr>
      </p:sp>
      <p:sp>
        <p:nvSpPr>
          <p:cNvPr id="17" name="Shape 14"/>
          <p:cNvSpPr/>
          <p:nvPr/>
        </p:nvSpPr>
        <p:spPr>
          <a:xfrm>
            <a:off x="274320" y="3337560"/>
            <a:ext cx="182880" cy="182880"/>
          </a:xfrm>
          <a:prstGeom prst="ellipse">
            <a:avLst/>
          </a:prstGeom>
          <a:solidFill>
            <a:srgbClr val="EF4444"/>
          </a:solidFill>
          <a:ln w="12700">
            <a:solidFill>
              <a:srgbClr val="EF4444"/>
            </a:solidFill>
            <a:prstDash val="solid"/>
          </a:ln>
        </p:spPr>
      </p:sp>
      <p:sp>
        <p:nvSpPr>
          <p:cNvPr id="18" name="Text 15"/>
          <p:cNvSpPr/>
          <p:nvPr/>
        </p:nvSpPr>
        <p:spPr>
          <a:xfrm>
            <a:off x="548640" y="3145536"/>
            <a:ext cx="4937760" cy="566928"/>
          </a:xfrm>
          <a:prstGeom prst="rect">
            <a:avLst/>
          </a:prstGeom>
          <a:noFill/>
          <a:ln/>
        </p:spPr>
        <p:txBody>
          <a:bodyPr wrap="square" rtlCol="0" anchor="ctr"/>
          <a:lstStyle/>
          <a:p>
            <a:pPr marL="0" indent="0" algn="l">
              <a:buNone/>
            </a:pPr>
            <a:r>
              <a:rPr lang="en-US" sz="1300">
                <a:solidFill>
                  <a:srgbClr val="E8F0FF"/>
                </a:solidFill>
                <a:latin typeface="Calibri" pitchFamily="34" charset="0"/>
                <a:ea typeface="Calibri" pitchFamily="34" charset="-122"/>
                <a:cs typeface="Calibri" pitchFamily="34" charset="-120"/>
              </a:rPr>
              <a:t>Direct automation using raw sensor values leads to poor and unpredictable control decisions</a:t>
            </a:r>
            <a:endParaRPr lang="en-US" sz="1300"/>
          </a:p>
        </p:txBody>
      </p:sp>
      <p:sp>
        <p:nvSpPr>
          <p:cNvPr id="19" name="Shape 16"/>
          <p:cNvSpPr/>
          <p:nvPr/>
        </p:nvSpPr>
        <p:spPr>
          <a:xfrm>
            <a:off x="5852160" y="960120"/>
            <a:ext cx="3063240" cy="3383280"/>
          </a:xfrm>
          <a:prstGeom prst="rect">
            <a:avLst/>
          </a:prstGeom>
          <a:solidFill>
            <a:srgbClr val="0A1E35"/>
          </a:solidFill>
          <a:ln w="15240">
            <a:solidFill>
              <a:srgbClr val="F5A623"/>
            </a:solidFill>
            <a:prstDash val="dash"/>
          </a:ln>
        </p:spPr>
      </p:sp>
      <p:sp>
        <p:nvSpPr>
          <p:cNvPr id="20" name="Text 17"/>
          <p:cNvSpPr/>
          <p:nvPr/>
        </p:nvSpPr>
        <p:spPr>
          <a:xfrm>
            <a:off x="5852160" y="960120"/>
            <a:ext cx="3063240" cy="3383280"/>
          </a:xfrm>
          <a:prstGeom prst="rect">
            <a:avLst/>
          </a:prstGeom>
          <a:noFill/>
          <a:ln/>
        </p:spPr>
        <p:txBody>
          <a:bodyPr wrap="square" rtlCol="0" anchor="ctr"/>
          <a:lstStyle/>
          <a:p>
            <a:pPr marL="0" indent="0" algn="ctr">
              <a:buNone/>
            </a:pPr>
            <a:r>
              <a:rPr lang="en-US" sz="1050" i="1">
                <a:solidFill>
                  <a:srgbClr val="F5A623"/>
                </a:solidFill>
                <a:latin typeface="Calibri" pitchFamily="34" charset="0"/>
                <a:ea typeface="Calibri" pitchFamily="34" charset="-122"/>
                <a:cs typeface="Calibri" pitchFamily="34" charset="-120"/>
              </a:rPr>
              <a:t>[ Image:</a:t>
            </a:r>
            <a:endParaRPr lang="en-US" sz="1050"/>
          </a:p>
          <a:p>
            <a:pPr marL="0" indent="0" algn="ctr">
              <a:buNone/>
            </a:pPr>
            <a:r>
              <a:rPr lang="en-US" sz="1050" i="1">
                <a:solidFill>
                  <a:srgbClr val="F5A623"/>
                </a:solidFill>
                <a:latin typeface="Calibri" pitchFamily="34" charset="0"/>
                <a:ea typeface="Calibri" pitchFamily="34" charset="-122"/>
                <a:cs typeface="Calibri" pitchFamily="34" charset="-120"/>
              </a:rPr>
              <a:t>Dark Room /</a:t>
            </a:r>
            <a:endParaRPr lang="en-US" sz="1050"/>
          </a:p>
          <a:p>
            <a:pPr marL="0" indent="0" algn="ctr">
              <a:buNone/>
            </a:pPr>
            <a:r>
              <a:rPr lang="en-US" sz="1050" i="1">
                <a:solidFill>
                  <a:srgbClr val="F5A623"/>
                </a:solidFill>
                <a:latin typeface="Calibri" pitchFamily="34" charset="0"/>
                <a:ea typeface="Calibri" pitchFamily="34" charset="-122"/>
                <a:cs typeface="Calibri" pitchFamily="34" charset="-120"/>
              </a:rPr>
              <a:t>Light Automation /</a:t>
            </a:r>
            <a:endParaRPr lang="en-US" sz="1050"/>
          </a:p>
          <a:p>
            <a:pPr marL="0" indent="0" algn="ctr">
              <a:buNone/>
            </a:pPr>
            <a:r>
              <a:rPr lang="en-US" sz="1050" i="1">
                <a:solidFill>
                  <a:srgbClr val="F5A623"/>
                </a:solidFill>
                <a:latin typeface="Calibri" pitchFamily="34" charset="0"/>
                <a:ea typeface="Calibri" pitchFamily="34" charset="-122"/>
                <a:cs typeface="Calibri" pitchFamily="34" charset="-120"/>
              </a:rPr>
              <a:t>Sensor Problem</a:t>
            </a:r>
            <a:endParaRPr lang="en-US" sz="1050"/>
          </a:p>
          <a:p>
            <a:pPr marL="0" indent="0" algn="ctr">
              <a:buNone/>
            </a:pPr>
            <a:r>
              <a:rPr lang="en-US" sz="1050" i="1">
                <a:solidFill>
                  <a:srgbClr val="F5A623"/>
                </a:solidFill>
                <a:latin typeface="Calibri" pitchFamily="34" charset="0"/>
                <a:ea typeface="Calibri" pitchFamily="34" charset="-122"/>
                <a:cs typeface="Calibri" pitchFamily="34" charset="-120"/>
              </a:rPr>
              <a:t>Illustration ]</a:t>
            </a:r>
            <a:endParaRPr lang="en-US" sz="1050"/>
          </a:p>
        </p:txBody>
      </p:sp>
      <p:sp>
        <p:nvSpPr>
          <p:cNvPr id="22" name="Text 19"/>
          <p:cNvSpPr/>
          <p:nvPr/>
        </p:nvSpPr>
        <p:spPr>
          <a:xfrm>
            <a:off x="0" y="4937760"/>
            <a:ext cx="9144000" cy="205740"/>
          </a:xfrm>
          <a:prstGeom prst="rect">
            <a:avLst/>
          </a:prstGeom>
          <a:noFill/>
          <a:ln/>
        </p:spPr>
        <p:txBody>
          <a:bodyPr wrap="square" rtlCol="0" anchor="ctr"/>
          <a:lstStyle/>
          <a:p>
            <a:pPr marL="0" indent="0" algn="ctr">
              <a:buNone/>
            </a:pPr>
            <a:r>
              <a:rPr lang="en-US" sz="850">
                <a:solidFill>
                  <a:srgbClr val="7E93B5"/>
                </a:solidFill>
                <a:latin typeface="Calibri" pitchFamily="34" charset="0"/>
                <a:ea typeface="Calibri" pitchFamily="34" charset="-122"/>
                <a:cs typeface="Calibri" pitchFamily="34" charset="-120"/>
              </a:rPr>
              <a:t>    </a:t>
            </a:r>
            <a:endParaRPr lang="en-US" sz="850"/>
          </a:p>
        </p:txBody>
      </p:sp>
      <p:pic>
        <p:nvPicPr>
          <p:cNvPr id="24" name="Picture 23">
            <a:extLst>
              <a:ext uri="{FF2B5EF4-FFF2-40B4-BE49-F238E27FC236}">
                <a16:creationId xmlns:a16="http://schemas.microsoft.com/office/drawing/2014/main" id="{DF4292E6-CA70-F7DF-26BC-1D14B1C99194}"/>
              </a:ext>
            </a:extLst>
          </p:cNvPr>
          <p:cNvPicPr>
            <a:picLocks noChangeAspect="1"/>
          </p:cNvPicPr>
          <p:nvPr/>
        </p:nvPicPr>
        <p:blipFill>
          <a:blip r:embed="rId4"/>
          <a:stretch>
            <a:fillRect/>
          </a:stretch>
        </p:blipFill>
        <p:spPr>
          <a:xfrm>
            <a:off x="5829300" y="950976"/>
            <a:ext cx="3108959" cy="340156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01C"/>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A1E35"/>
          </a:solidFill>
          <a:ln w="12700">
            <a:solidFill>
              <a:srgbClr val="0A1E35"/>
            </a:solidFill>
            <a:prstDash val="solid"/>
          </a:ln>
        </p:spPr>
      </p:sp>
      <p:sp>
        <p:nvSpPr>
          <p:cNvPr id="3" name="Shape 1"/>
          <p:cNvSpPr/>
          <p:nvPr/>
        </p:nvSpPr>
        <p:spPr>
          <a:xfrm>
            <a:off x="0" y="0"/>
            <a:ext cx="91440" cy="804672"/>
          </a:xfrm>
          <a:prstGeom prst="rect">
            <a:avLst/>
          </a:prstGeom>
          <a:solidFill>
            <a:srgbClr val="EF4444"/>
          </a:solidFill>
          <a:ln w="12700">
            <a:solidFill>
              <a:srgbClr val="EF4444"/>
            </a:solidFill>
            <a:prstDash val="solid"/>
          </a:ln>
        </p:spPr>
      </p:sp>
      <p:sp>
        <p:nvSpPr>
          <p:cNvPr id="4" name="Text 2"/>
          <p:cNvSpPr/>
          <p:nvPr/>
        </p:nvSpPr>
        <p:spPr>
          <a:xfrm>
            <a:off x="228600" y="0"/>
            <a:ext cx="8686800" cy="804672"/>
          </a:xfrm>
          <a:prstGeom prst="rect">
            <a:avLst/>
          </a:prstGeom>
          <a:noFill/>
          <a:ln/>
        </p:spPr>
        <p:txBody>
          <a:bodyPr wrap="square" rtlCol="0" anchor="ctr"/>
          <a:lstStyle/>
          <a:p>
            <a:pPr marL="0" indent="0" algn="l">
              <a:buNone/>
            </a:pPr>
            <a:r>
              <a:rPr lang="en-US" sz="2600" b="1">
                <a:solidFill>
                  <a:srgbClr val="FFFFFF"/>
                </a:solidFill>
                <a:latin typeface="Calibri" pitchFamily="34" charset="0"/>
                <a:ea typeface="Calibri" pitchFamily="34" charset="-122"/>
                <a:cs typeface="Calibri" pitchFamily="34" charset="-120"/>
              </a:rPr>
              <a:t>Existing Drawbacks</a:t>
            </a:r>
            <a:endParaRPr lang="en-US" sz="2600"/>
          </a:p>
        </p:txBody>
      </p:sp>
      <p:sp>
        <p:nvSpPr>
          <p:cNvPr id="5" name="Shape 3"/>
          <p:cNvSpPr/>
          <p:nvPr/>
        </p:nvSpPr>
        <p:spPr>
          <a:xfrm>
            <a:off x="0" y="804672"/>
            <a:ext cx="91440" cy="4133088"/>
          </a:xfrm>
          <a:prstGeom prst="rect">
            <a:avLst/>
          </a:prstGeom>
          <a:solidFill>
            <a:srgbClr val="EF4444"/>
          </a:solidFill>
          <a:ln w="12700">
            <a:solidFill>
              <a:srgbClr val="EF4444"/>
            </a:solidFill>
            <a:prstDash val="solid"/>
          </a:ln>
        </p:spPr>
      </p:sp>
      <p:pic>
        <p:nvPicPr>
          <p:cNvPr id="6" name="Image 0" descr="preencoded.png"/>
          <p:cNvPicPr>
            <a:picLocks noChangeAspect="1"/>
          </p:cNvPicPr>
          <p:nvPr/>
        </p:nvPicPr>
        <p:blipFill>
          <a:blip r:embed="rId3"/>
          <a:stretch>
            <a:fillRect/>
          </a:stretch>
        </p:blipFill>
        <p:spPr>
          <a:xfrm>
            <a:off x="8229600" y="137160"/>
            <a:ext cx="548640" cy="502920"/>
          </a:xfrm>
          <a:prstGeom prst="rect">
            <a:avLst/>
          </a:prstGeom>
        </p:spPr>
      </p:pic>
      <p:sp>
        <p:nvSpPr>
          <p:cNvPr id="7" name="Shape 4"/>
          <p:cNvSpPr/>
          <p:nvPr/>
        </p:nvSpPr>
        <p:spPr>
          <a:xfrm>
            <a:off x="182880" y="987552"/>
            <a:ext cx="5394960" cy="521208"/>
          </a:xfrm>
          <a:prstGeom prst="rect">
            <a:avLst/>
          </a:prstGeom>
          <a:solidFill>
            <a:srgbClr val="3D0A0A"/>
          </a:solidFill>
          <a:ln w="8890">
            <a:solidFill>
              <a:srgbClr val="EF4444"/>
            </a:solidFill>
            <a:prstDash val="solid"/>
          </a:ln>
        </p:spPr>
      </p:sp>
      <p:sp>
        <p:nvSpPr>
          <p:cNvPr id="8" name="Shape 5"/>
          <p:cNvSpPr/>
          <p:nvPr/>
        </p:nvSpPr>
        <p:spPr>
          <a:xfrm>
            <a:off x="182880" y="987552"/>
            <a:ext cx="82296" cy="521208"/>
          </a:xfrm>
          <a:prstGeom prst="rect">
            <a:avLst/>
          </a:prstGeom>
          <a:solidFill>
            <a:srgbClr val="EF4444"/>
          </a:solidFill>
          <a:ln w="12700">
            <a:solidFill>
              <a:srgbClr val="EF4444"/>
            </a:solidFill>
            <a:prstDash val="solid"/>
          </a:ln>
        </p:spPr>
      </p:sp>
      <p:sp>
        <p:nvSpPr>
          <p:cNvPr id="9" name="Text 6"/>
          <p:cNvSpPr/>
          <p:nvPr/>
        </p:nvSpPr>
        <p:spPr>
          <a:xfrm>
            <a:off x="365760" y="987552"/>
            <a:ext cx="5120640" cy="521208"/>
          </a:xfrm>
          <a:prstGeom prst="rect">
            <a:avLst/>
          </a:prstGeom>
          <a:noFill/>
          <a:ln/>
        </p:spPr>
        <p:txBody>
          <a:bodyPr wrap="square" rtlCol="0" anchor="ctr"/>
          <a:lstStyle/>
          <a:p>
            <a:pPr marL="0" indent="0" algn="l">
              <a:buNone/>
            </a:pPr>
            <a:r>
              <a:rPr lang="en-US" sz="1350">
                <a:solidFill>
                  <a:srgbClr val="E8F0FF"/>
                </a:solidFill>
                <a:latin typeface="Calibri" pitchFamily="34" charset="0"/>
                <a:ea typeface="Calibri" pitchFamily="34" charset="-122"/>
                <a:cs typeface="Calibri" pitchFamily="34" charset="-120"/>
              </a:rPr>
              <a:t>Traditional LDR-based systems use raw analog values directly</a:t>
            </a:r>
            <a:endParaRPr lang="en-US" sz="1350"/>
          </a:p>
        </p:txBody>
      </p:sp>
      <p:sp>
        <p:nvSpPr>
          <p:cNvPr id="10" name="Shape 7"/>
          <p:cNvSpPr/>
          <p:nvPr/>
        </p:nvSpPr>
        <p:spPr>
          <a:xfrm>
            <a:off x="182880" y="1645920"/>
            <a:ext cx="5394960" cy="521208"/>
          </a:xfrm>
          <a:prstGeom prst="rect">
            <a:avLst/>
          </a:prstGeom>
          <a:solidFill>
            <a:srgbClr val="3D0A0A"/>
          </a:solidFill>
          <a:ln w="8890">
            <a:solidFill>
              <a:srgbClr val="EF4444"/>
            </a:solidFill>
            <a:prstDash val="solid"/>
          </a:ln>
        </p:spPr>
      </p:sp>
      <p:sp>
        <p:nvSpPr>
          <p:cNvPr id="11" name="Shape 8"/>
          <p:cNvSpPr/>
          <p:nvPr/>
        </p:nvSpPr>
        <p:spPr>
          <a:xfrm>
            <a:off x="182880" y="1645920"/>
            <a:ext cx="82296" cy="521208"/>
          </a:xfrm>
          <a:prstGeom prst="rect">
            <a:avLst/>
          </a:prstGeom>
          <a:solidFill>
            <a:srgbClr val="EF4444"/>
          </a:solidFill>
          <a:ln w="12700">
            <a:solidFill>
              <a:srgbClr val="EF4444"/>
            </a:solidFill>
            <a:prstDash val="solid"/>
          </a:ln>
        </p:spPr>
      </p:sp>
      <p:sp>
        <p:nvSpPr>
          <p:cNvPr id="12" name="Text 9"/>
          <p:cNvSpPr/>
          <p:nvPr/>
        </p:nvSpPr>
        <p:spPr>
          <a:xfrm>
            <a:off x="365760" y="1645920"/>
            <a:ext cx="5120640" cy="521208"/>
          </a:xfrm>
          <a:prstGeom prst="rect">
            <a:avLst/>
          </a:prstGeom>
          <a:noFill/>
          <a:ln/>
        </p:spPr>
        <p:txBody>
          <a:bodyPr wrap="square" rtlCol="0" anchor="ctr"/>
          <a:lstStyle/>
          <a:p>
            <a:pPr marL="0" indent="0" algn="l">
              <a:buNone/>
            </a:pPr>
            <a:r>
              <a:rPr lang="en-US" sz="1350">
                <a:solidFill>
                  <a:srgbClr val="E8F0FF"/>
                </a:solidFill>
                <a:latin typeface="Calibri" pitchFamily="34" charset="0"/>
                <a:ea typeface="Calibri" pitchFamily="34" charset="-122"/>
                <a:cs typeface="Calibri" pitchFamily="34" charset="-120"/>
              </a:rPr>
              <a:t>Raw readings vary with environment and sensor aging / drift</a:t>
            </a:r>
            <a:endParaRPr lang="en-US" sz="1350"/>
          </a:p>
        </p:txBody>
      </p:sp>
      <p:sp>
        <p:nvSpPr>
          <p:cNvPr id="13" name="Shape 10"/>
          <p:cNvSpPr/>
          <p:nvPr/>
        </p:nvSpPr>
        <p:spPr>
          <a:xfrm>
            <a:off x="182880" y="2304288"/>
            <a:ext cx="5394960" cy="521208"/>
          </a:xfrm>
          <a:prstGeom prst="rect">
            <a:avLst/>
          </a:prstGeom>
          <a:solidFill>
            <a:srgbClr val="3D0A0A"/>
          </a:solidFill>
          <a:ln w="8890">
            <a:solidFill>
              <a:srgbClr val="EF4444"/>
            </a:solidFill>
            <a:prstDash val="solid"/>
          </a:ln>
        </p:spPr>
      </p:sp>
      <p:sp>
        <p:nvSpPr>
          <p:cNvPr id="14" name="Shape 11"/>
          <p:cNvSpPr/>
          <p:nvPr/>
        </p:nvSpPr>
        <p:spPr>
          <a:xfrm>
            <a:off x="182880" y="2304288"/>
            <a:ext cx="82296" cy="521208"/>
          </a:xfrm>
          <a:prstGeom prst="rect">
            <a:avLst/>
          </a:prstGeom>
          <a:solidFill>
            <a:srgbClr val="EF4444"/>
          </a:solidFill>
          <a:ln w="12700">
            <a:solidFill>
              <a:srgbClr val="EF4444"/>
            </a:solidFill>
            <a:prstDash val="solid"/>
          </a:ln>
        </p:spPr>
      </p:sp>
      <p:sp>
        <p:nvSpPr>
          <p:cNvPr id="15" name="Text 12"/>
          <p:cNvSpPr/>
          <p:nvPr/>
        </p:nvSpPr>
        <p:spPr>
          <a:xfrm>
            <a:off x="365760" y="2304288"/>
            <a:ext cx="5120640" cy="521208"/>
          </a:xfrm>
          <a:prstGeom prst="rect">
            <a:avLst/>
          </a:prstGeom>
          <a:noFill/>
          <a:ln/>
        </p:spPr>
        <p:txBody>
          <a:bodyPr wrap="square" rtlCol="0" anchor="ctr"/>
          <a:lstStyle/>
          <a:p>
            <a:pPr marL="0" indent="0" algn="l">
              <a:buNone/>
            </a:pPr>
            <a:r>
              <a:rPr lang="en-US" sz="1350">
                <a:solidFill>
                  <a:srgbClr val="E8F0FF"/>
                </a:solidFill>
                <a:latin typeface="Calibri" pitchFamily="34" charset="0"/>
                <a:ea typeface="Calibri" pitchFamily="34" charset="-122"/>
                <a:cs typeface="Calibri" pitchFamily="34" charset="-120"/>
              </a:rPr>
              <a:t>No proper calibration means poor and inconsistent accuracy</a:t>
            </a:r>
            <a:endParaRPr lang="en-US" sz="1350"/>
          </a:p>
        </p:txBody>
      </p:sp>
      <p:sp>
        <p:nvSpPr>
          <p:cNvPr id="16" name="Shape 13"/>
          <p:cNvSpPr/>
          <p:nvPr/>
        </p:nvSpPr>
        <p:spPr>
          <a:xfrm>
            <a:off x="182880" y="2962656"/>
            <a:ext cx="5394960" cy="521208"/>
          </a:xfrm>
          <a:prstGeom prst="rect">
            <a:avLst/>
          </a:prstGeom>
          <a:solidFill>
            <a:srgbClr val="3D0A0A"/>
          </a:solidFill>
          <a:ln w="8890">
            <a:solidFill>
              <a:srgbClr val="EF4444"/>
            </a:solidFill>
            <a:prstDash val="solid"/>
          </a:ln>
        </p:spPr>
      </p:sp>
      <p:sp>
        <p:nvSpPr>
          <p:cNvPr id="17" name="Shape 14"/>
          <p:cNvSpPr/>
          <p:nvPr/>
        </p:nvSpPr>
        <p:spPr>
          <a:xfrm>
            <a:off x="182880" y="2962656"/>
            <a:ext cx="82296" cy="521208"/>
          </a:xfrm>
          <a:prstGeom prst="rect">
            <a:avLst/>
          </a:prstGeom>
          <a:solidFill>
            <a:srgbClr val="EF4444"/>
          </a:solidFill>
          <a:ln w="12700">
            <a:solidFill>
              <a:srgbClr val="EF4444"/>
            </a:solidFill>
            <a:prstDash val="solid"/>
          </a:ln>
        </p:spPr>
      </p:sp>
      <p:sp>
        <p:nvSpPr>
          <p:cNvPr id="18" name="Text 15"/>
          <p:cNvSpPr/>
          <p:nvPr/>
        </p:nvSpPr>
        <p:spPr>
          <a:xfrm>
            <a:off x="365760" y="2962656"/>
            <a:ext cx="5120640" cy="521208"/>
          </a:xfrm>
          <a:prstGeom prst="rect">
            <a:avLst/>
          </a:prstGeom>
          <a:noFill/>
          <a:ln/>
        </p:spPr>
        <p:txBody>
          <a:bodyPr wrap="square" rtlCol="0" anchor="ctr"/>
          <a:lstStyle/>
          <a:p>
            <a:pPr marL="0" indent="0" algn="l">
              <a:buNone/>
            </a:pPr>
            <a:r>
              <a:rPr lang="en-US" sz="1350">
                <a:solidFill>
                  <a:srgbClr val="E8F0FF"/>
                </a:solidFill>
                <a:latin typeface="Calibri" pitchFamily="34" charset="0"/>
                <a:ea typeface="Calibri" pitchFamily="34" charset="-122"/>
                <a:cs typeface="Calibri" pitchFamily="34" charset="-120"/>
              </a:rPr>
              <a:t>Wrong measurements trigger incorrect lighting ON/OFF decisions</a:t>
            </a:r>
            <a:endParaRPr lang="en-US" sz="1350"/>
          </a:p>
        </p:txBody>
      </p:sp>
      <p:sp>
        <p:nvSpPr>
          <p:cNvPr id="19" name="Shape 16"/>
          <p:cNvSpPr/>
          <p:nvPr/>
        </p:nvSpPr>
        <p:spPr>
          <a:xfrm>
            <a:off x="182880" y="3621024"/>
            <a:ext cx="5394960" cy="521208"/>
          </a:xfrm>
          <a:prstGeom prst="rect">
            <a:avLst/>
          </a:prstGeom>
          <a:solidFill>
            <a:srgbClr val="3D0A0A"/>
          </a:solidFill>
          <a:ln w="8890">
            <a:solidFill>
              <a:srgbClr val="EF4444"/>
            </a:solidFill>
            <a:prstDash val="solid"/>
          </a:ln>
        </p:spPr>
      </p:sp>
      <p:sp>
        <p:nvSpPr>
          <p:cNvPr id="20" name="Shape 17"/>
          <p:cNvSpPr/>
          <p:nvPr/>
        </p:nvSpPr>
        <p:spPr>
          <a:xfrm>
            <a:off x="182880" y="3621024"/>
            <a:ext cx="82296" cy="521208"/>
          </a:xfrm>
          <a:prstGeom prst="rect">
            <a:avLst/>
          </a:prstGeom>
          <a:solidFill>
            <a:srgbClr val="EF4444"/>
          </a:solidFill>
          <a:ln w="12700">
            <a:solidFill>
              <a:srgbClr val="EF4444"/>
            </a:solidFill>
            <a:prstDash val="solid"/>
          </a:ln>
        </p:spPr>
      </p:sp>
      <p:sp>
        <p:nvSpPr>
          <p:cNvPr id="21" name="Text 18"/>
          <p:cNvSpPr/>
          <p:nvPr/>
        </p:nvSpPr>
        <p:spPr>
          <a:xfrm>
            <a:off x="365760" y="3621024"/>
            <a:ext cx="5120640" cy="521208"/>
          </a:xfrm>
          <a:prstGeom prst="rect">
            <a:avLst/>
          </a:prstGeom>
          <a:noFill/>
          <a:ln/>
        </p:spPr>
        <p:txBody>
          <a:bodyPr wrap="square" rtlCol="0" anchor="ctr"/>
          <a:lstStyle/>
          <a:p>
            <a:pPr marL="0" indent="0" algn="l">
              <a:buNone/>
            </a:pPr>
            <a:r>
              <a:rPr lang="en-US" sz="1350">
                <a:solidFill>
                  <a:srgbClr val="E8F0FF"/>
                </a:solidFill>
                <a:latin typeface="Calibri" pitchFamily="34" charset="0"/>
                <a:ea typeface="Calibri" pitchFamily="34" charset="-122"/>
                <a:cs typeface="Calibri" pitchFamily="34" charset="-120"/>
              </a:rPr>
              <a:t>Basic systems are low-cost, but not intelligent or reliable</a:t>
            </a:r>
            <a:endParaRPr lang="en-US" sz="1350"/>
          </a:p>
        </p:txBody>
      </p:sp>
      <p:sp>
        <p:nvSpPr>
          <p:cNvPr id="22" name="Shape 19"/>
          <p:cNvSpPr/>
          <p:nvPr/>
        </p:nvSpPr>
        <p:spPr>
          <a:xfrm>
            <a:off x="5852160" y="987552"/>
            <a:ext cx="3063240" cy="3749040"/>
          </a:xfrm>
          <a:prstGeom prst="rect">
            <a:avLst/>
          </a:prstGeom>
          <a:solidFill>
            <a:srgbClr val="0A1E35"/>
          </a:solidFill>
          <a:ln w="8890">
            <a:solidFill>
              <a:srgbClr val="EF4444"/>
            </a:solidFill>
            <a:prstDash val="solid"/>
          </a:ln>
        </p:spPr>
      </p:sp>
      <p:sp>
        <p:nvSpPr>
          <p:cNvPr id="23" name="Text 20"/>
          <p:cNvSpPr/>
          <p:nvPr/>
        </p:nvSpPr>
        <p:spPr>
          <a:xfrm>
            <a:off x="5852160" y="987552"/>
            <a:ext cx="3063240" cy="347472"/>
          </a:xfrm>
          <a:prstGeom prst="rect">
            <a:avLst/>
          </a:prstGeom>
          <a:noFill/>
          <a:ln/>
        </p:spPr>
        <p:txBody>
          <a:bodyPr wrap="square" rtlCol="0" anchor="ctr"/>
          <a:lstStyle/>
          <a:p>
            <a:pPr marL="0" indent="0" algn="ctr">
              <a:buNone/>
            </a:pPr>
            <a:r>
              <a:rPr lang="en-US" sz="1150" b="1">
                <a:solidFill>
                  <a:srgbClr val="EF4444"/>
                </a:solidFill>
                <a:latin typeface="Calibri" pitchFamily="34" charset="0"/>
                <a:ea typeface="Calibri" pitchFamily="34" charset="-122"/>
                <a:cs typeface="Calibri" pitchFamily="34" charset="-120"/>
              </a:rPr>
              <a:t>Current System Flow</a:t>
            </a:r>
            <a:endParaRPr lang="en-US" sz="1150"/>
          </a:p>
        </p:txBody>
      </p:sp>
      <p:sp>
        <p:nvSpPr>
          <p:cNvPr id="24" name="Shape 21"/>
          <p:cNvSpPr/>
          <p:nvPr/>
        </p:nvSpPr>
        <p:spPr>
          <a:xfrm>
            <a:off x="6080760" y="1444752"/>
            <a:ext cx="2606040" cy="384048"/>
          </a:xfrm>
          <a:prstGeom prst="rect">
            <a:avLst/>
          </a:prstGeom>
          <a:solidFill>
            <a:srgbClr val="0D2036"/>
          </a:solidFill>
          <a:ln w="8890">
            <a:solidFill>
              <a:srgbClr val="7E93B5"/>
            </a:solidFill>
            <a:prstDash val="solid"/>
          </a:ln>
        </p:spPr>
      </p:sp>
      <p:sp>
        <p:nvSpPr>
          <p:cNvPr id="25" name="Text 22"/>
          <p:cNvSpPr/>
          <p:nvPr/>
        </p:nvSpPr>
        <p:spPr>
          <a:xfrm>
            <a:off x="6080760" y="1444752"/>
            <a:ext cx="2606040" cy="384048"/>
          </a:xfrm>
          <a:prstGeom prst="rect">
            <a:avLst/>
          </a:prstGeom>
          <a:noFill/>
          <a:ln/>
        </p:spPr>
        <p:txBody>
          <a:bodyPr wrap="square" rtlCol="0" anchor="ctr"/>
          <a:lstStyle/>
          <a:p>
            <a:pPr marL="0" indent="0" algn="ctr">
              <a:buNone/>
            </a:pPr>
            <a:r>
              <a:rPr lang="en-US" sz="1100">
                <a:solidFill>
                  <a:srgbClr val="E8F0FF"/>
                </a:solidFill>
                <a:latin typeface="Calibri" pitchFamily="34" charset="0"/>
                <a:ea typeface="Calibri" pitchFamily="34" charset="-122"/>
                <a:cs typeface="Calibri" pitchFamily="34" charset="-120"/>
              </a:rPr>
              <a:t>Raw LDR Value</a:t>
            </a:r>
            <a:endParaRPr lang="en-US" sz="1100"/>
          </a:p>
        </p:txBody>
      </p:sp>
      <p:sp>
        <p:nvSpPr>
          <p:cNvPr id="26" name="Shape 23"/>
          <p:cNvSpPr/>
          <p:nvPr/>
        </p:nvSpPr>
        <p:spPr>
          <a:xfrm>
            <a:off x="7360920" y="1828800"/>
            <a:ext cx="64008" cy="274320"/>
          </a:xfrm>
          <a:prstGeom prst="rect">
            <a:avLst/>
          </a:prstGeom>
          <a:solidFill>
            <a:srgbClr val="7E93B5"/>
          </a:solidFill>
          <a:ln w="12700">
            <a:solidFill>
              <a:srgbClr val="7E93B5"/>
            </a:solidFill>
            <a:prstDash val="solid"/>
          </a:ln>
        </p:spPr>
      </p:sp>
      <p:sp>
        <p:nvSpPr>
          <p:cNvPr id="27" name="Shape 24"/>
          <p:cNvSpPr/>
          <p:nvPr/>
        </p:nvSpPr>
        <p:spPr>
          <a:xfrm>
            <a:off x="6080760" y="2103120"/>
            <a:ext cx="2606040" cy="384048"/>
          </a:xfrm>
          <a:prstGeom prst="rect">
            <a:avLst/>
          </a:prstGeom>
          <a:solidFill>
            <a:srgbClr val="1A0C0C"/>
          </a:solidFill>
          <a:ln w="8890">
            <a:solidFill>
              <a:srgbClr val="7E93B5"/>
            </a:solidFill>
            <a:prstDash val="solid"/>
          </a:ln>
        </p:spPr>
      </p:sp>
      <p:sp>
        <p:nvSpPr>
          <p:cNvPr id="28" name="Text 25"/>
          <p:cNvSpPr/>
          <p:nvPr/>
        </p:nvSpPr>
        <p:spPr>
          <a:xfrm>
            <a:off x="6080760" y="2103120"/>
            <a:ext cx="2606040" cy="384048"/>
          </a:xfrm>
          <a:prstGeom prst="rect">
            <a:avLst/>
          </a:prstGeom>
          <a:noFill/>
          <a:ln/>
        </p:spPr>
        <p:txBody>
          <a:bodyPr wrap="square" rtlCol="0" anchor="ctr"/>
          <a:lstStyle/>
          <a:p>
            <a:pPr marL="0" indent="0" algn="ctr">
              <a:buNone/>
            </a:pPr>
            <a:r>
              <a:rPr lang="en-US" sz="1100">
                <a:solidFill>
                  <a:srgbClr val="E8F0FF"/>
                </a:solidFill>
                <a:latin typeface="Calibri" pitchFamily="34" charset="0"/>
                <a:ea typeface="Calibri" pitchFamily="34" charset="-122"/>
                <a:cs typeface="Calibri" pitchFamily="34" charset="-120"/>
              </a:rPr>
              <a:t>No Calibration</a:t>
            </a:r>
            <a:endParaRPr lang="en-US" sz="1100"/>
          </a:p>
        </p:txBody>
      </p:sp>
      <p:sp>
        <p:nvSpPr>
          <p:cNvPr id="29" name="Shape 26"/>
          <p:cNvSpPr/>
          <p:nvPr/>
        </p:nvSpPr>
        <p:spPr>
          <a:xfrm>
            <a:off x="7360920" y="2487168"/>
            <a:ext cx="64008" cy="274320"/>
          </a:xfrm>
          <a:prstGeom prst="rect">
            <a:avLst/>
          </a:prstGeom>
          <a:solidFill>
            <a:srgbClr val="7E93B5"/>
          </a:solidFill>
          <a:ln w="12700">
            <a:solidFill>
              <a:srgbClr val="7E93B5"/>
            </a:solidFill>
            <a:prstDash val="solid"/>
          </a:ln>
        </p:spPr>
      </p:sp>
      <p:sp>
        <p:nvSpPr>
          <p:cNvPr id="30" name="Shape 27"/>
          <p:cNvSpPr/>
          <p:nvPr/>
        </p:nvSpPr>
        <p:spPr>
          <a:xfrm>
            <a:off x="6080760" y="2761488"/>
            <a:ext cx="2606040" cy="384048"/>
          </a:xfrm>
          <a:prstGeom prst="rect">
            <a:avLst/>
          </a:prstGeom>
          <a:solidFill>
            <a:srgbClr val="1A0C0C"/>
          </a:solidFill>
          <a:ln w="8890">
            <a:solidFill>
              <a:srgbClr val="7E93B5"/>
            </a:solidFill>
            <a:prstDash val="solid"/>
          </a:ln>
        </p:spPr>
      </p:sp>
      <p:sp>
        <p:nvSpPr>
          <p:cNvPr id="31" name="Text 28"/>
          <p:cNvSpPr/>
          <p:nvPr/>
        </p:nvSpPr>
        <p:spPr>
          <a:xfrm>
            <a:off x="6080760" y="2761488"/>
            <a:ext cx="2606040" cy="384048"/>
          </a:xfrm>
          <a:prstGeom prst="rect">
            <a:avLst/>
          </a:prstGeom>
          <a:noFill/>
          <a:ln/>
        </p:spPr>
        <p:txBody>
          <a:bodyPr wrap="square" rtlCol="0" anchor="ctr"/>
          <a:lstStyle/>
          <a:p>
            <a:pPr marL="0" indent="0" algn="ctr">
              <a:buNone/>
            </a:pPr>
            <a:r>
              <a:rPr lang="en-US" sz="1100">
                <a:solidFill>
                  <a:srgbClr val="E8F0FF"/>
                </a:solidFill>
                <a:latin typeface="Calibri" pitchFamily="34" charset="0"/>
                <a:ea typeface="Calibri" pitchFamily="34" charset="-122"/>
                <a:cs typeface="Calibri" pitchFamily="34" charset="-120"/>
              </a:rPr>
              <a:t>Direct Decision Logic</a:t>
            </a:r>
            <a:endParaRPr lang="en-US" sz="1100"/>
          </a:p>
        </p:txBody>
      </p:sp>
      <p:sp>
        <p:nvSpPr>
          <p:cNvPr id="32" name="Shape 29"/>
          <p:cNvSpPr/>
          <p:nvPr/>
        </p:nvSpPr>
        <p:spPr>
          <a:xfrm>
            <a:off x="7360920" y="3145536"/>
            <a:ext cx="64008" cy="274320"/>
          </a:xfrm>
          <a:prstGeom prst="rect">
            <a:avLst/>
          </a:prstGeom>
          <a:solidFill>
            <a:srgbClr val="7E93B5"/>
          </a:solidFill>
          <a:ln w="12700">
            <a:solidFill>
              <a:srgbClr val="7E93B5"/>
            </a:solidFill>
            <a:prstDash val="solid"/>
          </a:ln>
        </p:spPr>
      </p:sp>
      <p:sp>
        <p:nvSpPr>
          <p:cNvPr id="33" name="Shape 30"/>
          <p:cNvSpPr/>
          <p:nvPr/>
        </p:nvSpPr>
        <p:spPr>
          <a:xfrm>
            <a:off x="6080760" y="3419856"/>
            <a:ext cx="2606040" cy="384048"/>
          </a:xfrm>
          <a:prstGeom prst="rect">
            <a:avLst/>
          </a:prstGeom>
          <a:solidFill>
            <a:srgbClr val="3D0A0A"/>
          </a:solidFill>
          <a:ln w="8890">
            <a:solidFill>
              <a:srgbClr val="EF4444"/>
            </a:solidFill>
            <a:prstDash val="solid"/>
          </a:ln>
        </p:spPr>
      </p:sp>
      <p:sp>
        <p:nvSpPr>
          <p:cNvPr id="34" name="Text 31"/>
          <p:cNvSpPr/>
          <p:nvPr/>
        </p:nvSpPr>
        <p:spPr>
          <a:xfrm>
            <a:off x="6080760" y="3419856"/>
            <a:ext cx="2606040" cy="384048"/>
          </a:xfrm>
          <a:prstGeom prst="rect">
            <a:avLst/>
          </a:prstGeom>
          <a:noFill/>
          <a:ln/>
        </p:spPr>
        <p:txBody>
          <a:bodyPr wrap="square" rtlCol="0" anchor="ctr"/>
          <a:lstStyle/>
          <a:p>
            <a:pPr marL="0" indent="0" algn="ctr">
              <a:buNone/>
            </a:pPr>
            <a:r>
              <a:rPr lang="en-US" sz="1100" b="1">
                <a:solidFill>
                  <a:srgbClr val="EF4444"/>
                </a:solidFill>
                <a:latin typeface="Calibri" pitchFamily="34" charset="0"/>
                <a:ea typeface="Calibri" pitchFamily="34" charset="-122"/>
                <a:cs typeface="Calibri" pitchFamily="34" charset="-120"/>
              </a:rPr>
              <a:t>❌  Incorrect Output</a:t>
            </a:r>
            <a:endParaRPr lang="en-US" sz="1100"/>
          </a:p>
        </p:txBody>
      </p:sp>
      <p:sp>
        <p:nvSpPr>
          <p:cNvPr id="36" name="Text 33"/>
          <p:cNvSpPr/>
          <p:nvPr/>
        </p:nvSpPr>
        <p:spPr>
          <a:xfrm>
            <a:off x="0" y="4937760"/>
            <a:ext cx="9144000" cy="205740"/>
          </a:xfrm>
          <a:prstGeom prst="rect">
            <a:avLst/>
          </a:prstGeom>
          <a:noFill/>
          <a:ln/>
        </p:spPr>
        <p:txBody>
          <a:bodyPr wrap="square" rtlCol="0" anchor="ctr"/>
          <a:lstStyle/>
          <a:p>
            <a:pPr marL="0" indent="0" algn="ctr">
              <a:buNone/>
            </a:pPr>
            <a:endParaRPr lang="en-US" sz="8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40D1A"/>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A1E35"/>
          </a:solidFill>
          <a:ln w="12700">
            <a:solidFill>
              <a:srgbClr val="0A1E35"/>
            </a:solidFill>
            <a:prstDash val="solid"/>
          </a:ln>
        </p:spPr>
      </p:sp>
      <p:sp>
        <p:nvSpPr>
          <p:cNvPr id="3" name="Shape 1"/>
          <p:cNvSpPr/>
          <p:nvPr/>
        </p:nvSpPr>
        <p:spPr>
          <a:xfrm>
            <a:off x="0" y="0"/>
            <a:ext cx="91440" cy="804672"/>
          </a:xfrm>
          <a:prstGeom prst="rect">
            <a:avLst/>
          </a:prstGeom>
          <a:solidFill>
            <a:srgbClr val="22C55E"/>
          </a:solidFill>
          <a:ln w="12700">
            <a:solidFill>
              <a:srgbClr val="22C55E"/>
            </a:solidFill>
            <a:prstDash val="solid"/>
          </a:ln>
        </p:spPr>
      </p:sp>
      <p:sp>
        <p:nvSpPr>
          <p:cNvPr id="4" name="Text 2"/>
          <p:cNvSpPr/>
          <p:nvPr/>
        </p:nvSpPr>
        <p:spPr>
          <a:xfrm>
            <a:off x="228600" y="0"/>
            <a:ext cx="8686800" cy="804672"/>
          </a:xfrm>
          <a:prstGeom prst="rect">
            <a:avLst/>
          </a:prstGeom>
          <a:noFill/>
          <a:ln/>
        </p:spPr>
        <p:txBody>
          <a:bodyPr wrap="square" rtlCol="0" anchor="ctr"/>
          <a:lstStyle/>
          <a:p>
            <a:pPr marL="0" indent="0" algn="l">
              <a:buNone/>
            </a:pPr>
            <a:r>
              <a:rPr lang="en-US" sz="2600" b="1">
                <a:solidFill>
                  <a:srgbClr val="FFFFFF"/>
                </a:solidFill>
                <a:latin typeface="Calibri" pitchFamily="34" charset="0"/>
                <a:ea typeface="Calibri" pitchFamily="34" charset="-122"/>
                <a:cs typeface="Calibri" pitchFamily="34" charset="-120"/>
              </a:rPr>
              <a:t>Proposed Solution  /  Innovation</a:t>
            </a:r>
            <a:endParaRPr lang="en-US" sz="2600"/>
          </a:p>
        </p:txBody>
      </p:sp>
      <p:sp>
        <p:nvSpPr>
          <p:cNvPr id="5" name="Shape 3"/>
          <p:cNvSpPr/>
          <p:nvPr/>
        </p:nvSpPr>
        <p:spPr>
          <a:xfrm>
            <a:off x="0" y="804672"/>
            <a:ext cx="91440" cy="4133088"/>
          </a:xfrm>
          <a:prstGeom prst="rect">
            <a:avLst/>
          </a:prstGeom>
          <a:solidFill>
            <a:srgbClr val="22C55E"/>
          </a:solidFill>
          <a:ln w="12700">
            <a:solidFill>
              <a:srgbClr val="22C55E"/>
            </a:solidFill>
            <a:prstDash val="solid"/>
          </a:ln>
        </p:spPr>
      </p:sp>
      <p:pic>
        <p:nvPicPr>
          <p:cNvPr id="6" name="Image 0" descr="preencoded.png"/>
          <p:cNvPicPr>
            <a:picLocks noChangeAspect="1"/>
          </p:cNvPicPr>
          <p:nvPr/>
        </p:nvPicPr>
        <p:blipFill>
          <a:blip r:embed="rId3"/>
          <a:stretch>
            <a:fillRect/>
          </a:stretch>
        </p:blipFill>
        <p:spPr>
          <a:xfrm>
            <a:off x="8229600" y="137160"/>
            <a:ext cx="548640" cy="502920"/>
          </a:xfrm>
          <a:prstGeom prst="rect">
            <a:avLst/>
          </a:prstGeom>
        </p:spPr>
      </p:pic>
      <p:sp>
        <p:nvSpPr>
          <p:cNvPr id="7" name="Shape 4"/>
          <p:cNvSpPr/>
          <p:nvPr/>
        </p:nvSpPr>
        <p:spPr>
          <a:xfrm>
            <a:off x="182880" y="960120"/>
            <a:ext cx="1554480" cy="402336"/>
          </a:xfrm>
          <a:prstGeom prst="rect">
            <a:avLst/>
          </a:prstGeom>
          <a:solidFill>
            <a:srgbClr val="0A3E22"/>
          </a:solidFill>
          <a:ln w="10160">
            <a:solidFill>
              <a:srgbClr val="22C55E"/>
            </a:solidFill>
            <a:prstDash val="solid"/>
          </a:ln>
        </p:spPr>
      </p:sp>
      <p:sp>
        <p:nvSpPr>
          <p:cNvPr id="8" name="Text 5"/>
          <p:cNvSpPr/>
          <p:nvPr/>
        </p:nvSpPr>
        <p:spPr>
          <a:xfrm>
            <a:off x="182880" y="960120"/>
            <a:ext cx="1554480" cy="402336"/>
          </a:xfrm>
          <a:prstGeom prst="rect">
            <a:avLst/>
          </a:prstGeom>
          <a:noFill/>
          <a:ln/>
        </p:spPr>
        <p:txBody>
          <a:bodyPr wrap="square" rtlCol="0" anchor="ctr"/>
          <a:lstStyle/>
          <a:p>
            <a:pPr marL="0" indent="0" algn="ctr">
              <a:buNone/>
            </a:pPr>
            <a:r>
              <a:rPr lang="en-US" sz="950" b="1">
                <a:solidFill>
                  <a:srgbClr val="22C55E"/>
                </a:solidFill>
                <a:latin typeface="Calibri" pitchFamily="34" charset="0"/>
                <a:ea typeface="Calibri" pitchFamily="34" charset="-122"/>
                <a:cs typeface="Calibri" pitchFamily="34" charset="-120"/>
              </a:rPr>
              <a:t>Primary Sensor</a:t>
            </a:r>
            <a:endParaRPr lang="en-US" sz="950"/>
          </a:p>
        </p:txBody>
      </p:sp>
      <p:sp>
        <p:nvSpPr>
          <p:cNvPr id="9" name="Text 6"/>
          <p:cNvSpPr/>
          <p:nvPr/>
        </p:nvSpPr>
        <p:spPr>
          <a:xfrm>
            <a:off x="1874520" y="960120"/>
            <a:ext cx="3749040" cy="402336"/>
          </a:xfrm>
          <a:prstGeom prst="rect">
            <a:avLst/>
          </a:prstGeom>
          <a:noFill/>
          <a:ln/>
        </p:spPr>
        <p:txBody>
          <a:bodyPr wrap="square" rtlCol="0" anchor="ctr"/>
          <a:lstStyle/>
          <a:p>
            <a:pPr marL="0" indent="0" algn="l">
              <a:buNone/>
            </a:pPr>
            <a:r>
              <a:rPr lang="en-US" sz="1300">
                <a:solidFill>
                  <a:srgbClr val="E8F0FF"/>
                </a:solidFill>
                <a:latin typeface="Calibri" pitchFamily="34" charset="0"/>
                <a:ea typeface="Calibri" pitchFamily="34" charset="-122"/>
                <a:cs typeface="Calibri" pitchFamily="34" charset="-120"/>
              </a:rPr>
              <a:t>LDR — Low-cost, widely available light sensor</a:t>
            </a:r>
            <a:endParaRPr lang="en-US" sz="1300"/>
          </a:p>
        </p:txBody>
      </p:sp>
      <p:sp>
        <p:nvSpPr>
          <p:cNvPr id="10" name="Shape 7"/>
          <p:cNvSpPr/>
          <p:nvPr/>
        </p:nvSpPr>
        <p:spPr>
          <a:xfrm>
            <a:off x="182880" y="1563624"/>
            <a:ext cx="1554480" cy="402336"/>
          </a:xfrm>
          <a:prstGeom prst="rect">
            <a:avLst/>
          </a:prstGeom>
          <a:solidFill>
            <a:srgbClr val="0A3E22"/>
          </a:solidFill>
          <a:ln w="10160">
            <a:solidFill>
              <a:srgbClr val="22C55E"/>
            </a:solidFill>
            <a:prstDash val="solid"/>
          </a:ln>
        </p:spPr>
      </p:sp>
      <p:sp>
        <p:nvSpPr>
          <p:cNvPr id="11" name="Text 8"/>
          <p:cNvSpPr/>
          <p:nvPr/>
        </p:nvSpPr>
        <p:spPr>
          <a:xfrm>
            <a:off x="182880" y="1563624"/>
            <a:ext cx="1554480" cy="402336"/>
          </a:xfrm>
          <a:prstGeom prst="rect">
            <a:avLst/>
          </a:prstGeom>
          <a:noFill/>
          <a:ln/>
        </p:spPr>
        <p:txBody>
          <a:bodyPr wrap="square" rtlCol="0" anchor="ctr"/>
          <a:lstStyle/>
          <a:p>
            <a:pPr marL="0" indent="0" algn="ctr">
              <a:buNone/>
            </a:pPr>
            <a:r>
              <a:rPr lang="en-US" sz="950" b="1">
                <a:solidFill>
                  <a:srgbClr val="22C55E"/>
                </a:solidFill>
                <a:latin typeface="Calibri" pitchFamily="34" charset="0"/>
                <a:ea typeface="Calibri" pitchFamily="34" charset="-122"/>
                <a:cs typeface="Calibri" pitchFamily="34" charset="-120"/>
              </a:rPr>
              <a:t>Reference Sensor</a:t>
            </a:r>
            <a:endParaRPr lang="en-US" sz="950"/>
          </a:p>
        </p:txBody>
      </p:sp>
      <p:sp>
        <p:nvSpPr>
          <p:cNvPr id="12" name="Text 9"/>
          <p:cNvSpPr/>
          <p:nvPr/>
        </p:nvSpPr>
        <p:spPr>
          <a:xfrm>
            <a:off x="1874520" y="1563624"/>
            <a:ext cx="3749040" cy="402336"/>
          </a:xfrm>
          <a:prstGeom prst="rect">
            <a:avLst/>
          </a:prstGeom>
          <a:noFill/>
          <a:ln/>
        </p:spPr>
        <p:txBody>
          <a:bodyPr wrap="square" rtlCol="0" anchor="ctr"/>
          <a:lstStyle/>
          <a:p>
            <a:pPr marL="0" indent="0" algn="l">
              <a:buNone/>
            </a:pPr>
            <a:r>
              <a:rPr lang="en-US" sz="1300">
                <a:solidFill>
                  <a:srgbClr val="E8F0FF"/>
                </a:solidFill>
                <a:latin typeface="Calibri" pitchFamily="34" charset="0"/>
                <a:ea typeface="Calibri" pitchFamily="34" charset="-122"/>
                <a:cs typeface="Calibri" pitchFamily="34" charset="-120"/>
              </a:rPr>
              <a:t>TSL2561 — Accurate lux reference during ML training</a:t>
            </a:r>
            <a:endParaRPr lang="en-US" sz="1300"/>
          </a:p>
        </p:txBody>
      </p:sp>
      <p:sp>
        <p:nvSpPr>
          <p:cNvPr id="13" name="Shape 10"/>
          <p:cNvSpPr/>
          <p:nvPr/>
        </p:nvSpPr>
        <p:spPr>
          <a:xfrm>
            <a:off x="182880" y="2167128"/>
            <a:ext cx="1554480" cy="402336"/>
          </a:xfrm>
          <a:prstGeom prst="rect">
            <a:avLst/>
          </a:prstGeom>
          <a:solidFill>
            <a:srgbClr val="0A3E22"/>
          </a:solidFill>
          <a:ln w="10160">
            <a:solidFill>
              <a:srgbClr val="22C55E"/>
            </a:solidFill>
            <a:prstDash val="solid"/>
          </a:ln>
        </p:spPr>
      </p:sp>
      <p:sp>
        <p:nvSpPr>
          <p:cNvPr id="14" name="Text 11"/>
          <p:cNvSpPr/>
          <p:nvPr/>
        </p:nvSpPr>
        <p:spPr>
          <a:xfrm>
            <a:off x="182880" y="2167128"/>
            <a:ext cx="1554480" cy="402336"/>
          </a:xfrm>
          <a:prstGeom prst="rect">
            <a:avLst/>
          </a:prstGeom>
          <a:noFill/>
          <a:ln/>
        </p:spPr>
        <p:txBody>
          <a:bodyPr wrap="square" rtlCol="0" anchor="ctr"/>
          <a:lstStyle/>
          <a:p>
            <a:pPr marL="0" indent="0" algn="ctr">
              <a:buNone/>
            </a:pPr>
            <a:r>
              <a:rPr lang="en-US" sz="950" b="1">
                <a:solidFill>
                  <a:srgbClr val="22C55E"/>
                </a:solidFill>
                <a:latin typeface="Calibri" pitchFamily="34" charset="0"/>
                <a:ea typeface="Calibri" pitchFamily="34" charset="-122"/>
                <a:cs typeface="Calibri" pitchFamily="34" charset="-120"/>
              </a:rPr>
              <a:t>Validation Sensor</a:t>
            </a:r>
            <a:endParaRPr lang="en-US" sz="950"/>
          </a:p>
        </p:txBody>
      </p:sp>
      <p:sp>
        <p:nvSpPr>
          <p:cNvPr id="15" name="Text 12"/>
          <p:cNvSpPr/>
          <p:nvPr/>
        </p:nvSpPr>
        <p:spPr>
          <a:xfrm>
            <a:off x="1874520" y="2167128"/>
            <a:ext cx="3749040" cy="402336"/>
          </a:xfrm>
          <a:prstGeom prst="rect">
            <a:avLst/>
          </a:prstGeom>
          <a:noFill/>
          <a:ln/>
        </p:spPr>
        <p:txBody>
          <a:bodyPr wrap="square" rtlCol="0" anchor="ctr"/>
          <a:lstStyle/>
          <a:p>
            <a:pPr marL="0" indent="0" algn="l">
              <a:buNone/>
            </a:pPr>
            <a:r>
              <a:rPr lang="en-US" sz="1300">
                <a:solidFill>
                  <a:srgbClr val="E8F0FF"/>
                </a:solidFill>
                <a:latin typeface="Calibri" pitchFamily="34" charset="0"/>
                <a:ea typeface="Calibri" pitchFamily="34" charset="-122"/>
                <a:cs typeface="Calibri" pitchFamily="34" charset="-120"/>
              </a:rPr>
              <a:t>BH1750 — Secondary validation and cross-check</a:t>
            </a:r>
            <a:endParaRPr lang="en-US" sz="1300"/>
          </a:p>
        </p:txBody>
      </p:sp>
      <p:sp>
        <p:nvSpPr>
          <p:cNvPr id="16" name="Shape 13"/>
          <p:cNvSpPr/>
          <p:nvPr/>
        </p:nvSpPr>
        <p:spPr>
          <a:xfrm>
            <a:off x="182880" y="2770632"/>
            <a:ext cx="1554480" cy="402336"/>
          </a:xfrm>
          <a:prstGeom prst="rect">
            <a:avLst/>
          </a:prstGeom>
          <a:solidFill>
            <a:srgbClr val="0A3E22"/>
          </a:solidFill>
          <a:ln w="10160">
            <a:solidFill>
              <a:srgbClr val="22C55E"/>
            </a:solidFill>
            <a:prstDash val="solid"/>
          </a:ln>
        </p:spPr>
      </p:sp>
      <p:sp>
        <p:nvSpPr>
          <p:cNvPr id="17" name="Text 14"/>
          <p:cNvSpPr/>
          <p:nvPr/>
        </p:nvSpPr>
        <p:spPr>
          <a:xfrm>
            <a:off x="182880" y="2770632"/>
            <a:ext cx="1554480" cy="402336"/>
          </a:xfrm>
          <a:prstGeom prst="rect">
            <a:avLst/>
          </a:prstGeom>
          <a:noFill/>
          <a:ln/>
        </p:spPr>
        <p:txBody>
          <a:bodyPr wrap="square" rtlCol="0" anchor="ctr"/>
          <a:lstStyle/>
          <a:p>
            <a:pPr marL="0" indent="0" algn="ctr">
              <a:buNone/>
            </a:pPr>
            <a:r>
              <a:rPr lang="en-US" sz="950" b="1">
                <a:solidFill>
                  <a:srgbClr val="22C55E"/>
                </a:solidFill>
                <a:latin typeface="Calibri" pitchFamily="34" charset="0"/>
                <a:ea typeface="Calibri" pitchFamily="34" charset="-122"/>
                <a:cs typeface="Calibri" pitchFamily="34" charset="-120"/>
              </a:rPr>
              <a:t>Env. Monitor</a:t>
            </a:r>
            <a:endParaRPr lang="en-US" sz="950"/>
          </a:p>
        </p:txBody>
      </p:sp>
      <p:sp>
        <p:nvSpPr>
          <p:cNvPr id="18" name="Text 15"/>
          <p:cNvSpPr/>
          <p:nvPr/>
        </p:nvSpPr>
        <p:spPr>
          <a:xfrm>
            <a:off x="1874520" y="2770632"/>
            <a:ext cx="3749040" cy="402336"/>
          </a:xfrm>
          <a:prstGeom prst="rect">
            <a:avLst/>
          </a:prstGeom>
          <a:noFill/>
          <a:ln/>
        </p:spPr>
        <p:txBody>
          <a:bodyPr wrap="square" rtlCol="0" anchor="ctr"/>
          <a:lstStyle/>
          <a:p>
            <a:pPr marL="0" indent="0" algn="l">
              <a:buNone/>
            </a:pPr>
            <a:r>
              <a:rPr lang="en-US" sz="1300">
                <a:solidFill>
                  <a:srgbClr val="E8F0FF"/>
                </a:solidFill>
                <a:latin typeface="Calibri" pitchFamily="34" charset="0"/>
                <a:ea typeface="Calibri" pitchFamily="34" charset="-122"/>
                <a:cs typeface="Calibri" pitchFamily="34" charset="-120"/>
              </a:rPr>
              <a:t>DHT22 — Temperature input for model accuracy</a:t>
            </a:r>
            <a:endParaRPr lang="en-US" sz="1300"/>
          </a:p>
        </p:txBody>
      </p:sp>
      <p:sp>
        <p:nvSpPr>
          <p:cNvPr id="19" name="Shape 16"/>
          <p:cNvSpPr/>
          <p:nvPr/>
        </p:nvSpPr>
        <p:spPr>
          <a:xfrm>
            <a:off x="182880" y="3374136"/>
            <a:ext cx="1554480" cy="402336"/>
          </a:xfrm>
          <a:prstGeom prst="rect">
            <a:avLst/>
          </a:prstGeom>
          <a:solidFill>
            <a:srgbClr val="0A3E22"/>
          </a:solidFill>
          <a:ln w="10160">
            <a:solidFill>
              <a:srgbClr val="22C55E"/>
            </a:solidFill>
            <a:prstDash val="solid"/>
          </a:ln>
        </p:spPr>
      </p:sp>
      <p:sp>
        <p:nvSpPr>
          <p:cNvPr id="20" name="Text 17"/>
          <p:cNvSpPr/>
          <p:nvPr/>
        </p:nvSpPr>
        <p:spPr>
          <a:xfrm>
            <a:off x="182880" y="3374136"/>
            <a:ext cx="1554480" cy="402336"/>
          </a:xfrm>
          <a:prstGeom prst="rect">
            <a:avLst/>
          </a:prstGeom>
          <a:noFill/>
          <a:ln/>
        </p:spPr>
        <p:txBody>
          <a:bodyPr wrap="square" rtlCol="0" anchor="ctr"/>
          <a:lstStyle/>
          <a:p>
            <a:pPr marL="0" indent="0" algn="ctr">
              <a:buNone/>
            </a:pPr>
            <a:r>
              <a:rPr lang="en-US" sz="950" b="1">
                <a:solidFill>
                  <a:srgbClr val="22C55E"/>
                </a:solidFill>
                <a:latin typeface="Calibri" pitchFamily="34" charset="0"/>
                <a:ea typeface="Calibri" pitchFamily="34" charset="-122"/>
                <a:cs typeface="Calibri" pitchFamily="34" charset="-120"/>
              </a:rPr>
              <a:t>ML Calibration</a:t>
            </a:r>
            <a:endParaRPr lang="en-US" sz="950"/>
          </a:p>
        </p:txBody>
      </p:sp>
      <p:sp>
        <p:nvSpPr>
          <p:cNvPr id="21" name="Text 18"/>
          <p:cNvSpPr/>
          <p:nvPr/>
        </p:nvSpPr>
        <p:spPr>
          <a:xfrm>
            <a:off x="1874520" y="3374136"/>
            <a:ext cx="3749040" cy="402336"/>
          </a:xfrm>
          <a:prstGeom prst="rect">
            <a:avLst/>
          </a:prstGeom>
          <a:noFill/>
          <a:ln/>
        </p:spPr>
        <p:txBody>
          <a:bodyPr wrap="square" rtlCol="0" anchor="ctr"/>
          <a:lstStyle/>
          <a:p>
            <a:pPr marL="0" indent="0" algn="l">
              <a:buNone/>
            </a:pPr>
            <a:r>
              <a:rPr lang="en-US" sz="1300">
                <a:solidFill>
                  <a:srgbClr val="E8F0FF"/>
                </a:solidFill>
                <a:latin typeface="Calibri" pitchFamily="34" charset="0"/>
                <a:ea typeface="Calibri" pitchFamily="34" charset="-122"/>
                <a:cs typeface="Calibri" pitchFamily="34" charset="-120"/>
              </a:rPr>
              <a:t>Regression model predicts calibrated lux from raw data</a:t>
            </a:r>
            <a:endParaRPr lang="en-US" sz="1300"/>
          </a:p>
        </p:txBody>
      </p:sp>
      <p:sp>
        <p:nvSpPr>
          <p:cNvPr id="22" name="Shape 19"/>
          <p:cNvSpPr/>
          <p:nvPr/>
        </p:nvSpPr>
        <p:spPr>
          <a:xfrm>
            <a:off x="182880" y="3977640"/>
            <a:ext cx="1554480" cy="402336"/>
          </a:xfrm>
          <a:prstGeom prst="rect">
            <a:avLst/>
          </a:prstGeom>
          <a:solidFill>
            <a:srgbClr val="0A3E22"/>
          </a:solidFill>
          <a:ln w="10160">
            <a:solidFill>
              <a:srgbClr val="22C55E"/>
            </a:solidFill>
            <a:prstDash val="solid"/>
          </a:ln>
        </p:spPr>
      </p:sp>
      <p:sp>
        <p:nvSpPr>
          <p:cNvPr id="23" name="Text 20"/>
          <p:cNvSpPr/>
          <p:nvPr/>
        </p:nvSpPr>
        <p:spPr>
          <a:xfrm>
            <a:off x="182880" y="3977640"/>
            <a:ext cx="1554480" cy="402336"/>
          </a:xfrm>
          <a:prstGeom prst="rect">
            <a:avLst/>
          </a:prstGeom>
          <a:noFill/>
          <a:ln/>
        </p:spPr>
        <p:txBody>
          <a:bodyPr wrap="square" rtlCol="0" anchor="ctr"/>
          <a:lstStyle/>
          <a:p>
            <a:pPr marL="0" indent="0" algn="ctr">
              <a:buNone/>
            </a:pPr>
            <a:r>
              <a:rPr lang="en-US" sz="950" b="1">
                <a:solidFill>
                  <a:srgbClr val="22C55E"/>
                </a:solidFill>
                <a:latin typeface="Calibri" pitchFamily="34" charset="0"/>
                <a:ea typeface="Calibri" pitchFamily="34" charset="-122"/>
                <a:cs typeface="Calibri" pitchFamily="34" charset="-120"/>
              </a:rPr>
              <a:t>Auto Light Control</a:t>
            </a:r>
            <a:endParaRPr lang="en-US" sz="950"/>
          </a:p>
        </p:txBody>
      </p:sp>
      <p:sp>
        <p:nvSpPr>
          <p:cNvPr id="24" name="Text 21"/>
          <p:cNvSpPr/>
          <p:nvPr/>
        </p:nvSpPr>
        <p:spPr>
          <a:xfrm>
            <a:off x="1874520" y="3977640"/>
            <a:ext cx="3749040" cy="402336"/>
          </a:xfrm>
          <a:prstGeom prst="rect">
            <a:avLst/>
          </a:prstGeom>
          <a:noFill/>
          <a:ln/>
        </p:spPr>
        <p:txBody>
          <a:bodyPr wrap="square" rtlCol="0" anchor="ctr"/>
          <a:lstStyle/>
          <a:p>
            <a:pPr marL="0" indent="0" algn="l">
              <a:buNone/>
            </a:pPr>
            <a:r>
              <a:rPr lang="en-US" sz="1300">
                <a:solidFill>
                  <a:srgbClr val="E8F0FF"/>
                </a:solidFill>
                <a:latin typeface="Calibri" pitchFamily="34" charset="0"/>
                <a:ea typeface="Calibri" pitchFamily="34" charset="-122"/>
                <a:cs typeface="Calibri" pitchFamily="34" charset="-120"/>
              </a:rPr>
              <a:t>Calibrated lux drives automatic LED ON / OFF logic</a:t>
            </a:r>
            <a:endParaRPr lang="en-US" sz="1300"/>
          </a:p>
        </p:txBody>
      </p:sp>
      <p:sp>
        <p:nvSpPr>
          <p:cNvPr id="25" name="Shape 22"/>
          <p:cNvSpPr/>
          <p:nvPr/>
        </p:nvSpPr>
        <p:spPr>
          <a:xfrm>
            <a:off x="5852160" y="960120"/>
            <a:ext cx="3063240" cy="3749040"/>
          </a:xfrm>
          <a:prstGeom prst="rect">
            <a:avLst/>
          </a:prstGeom>
          <a:solidFill>
            <a:srgbClr val="0A1E35"/>
          </a:solidFill>
          <a:ln w="15240">
            <a:solidFill>
              <a:srgbClr val="F5A623"/>
            </a:solidFill>
            <a:prstDash val="dash"/>
          </a:ln>
        </p:spPr>
        <p:txBody>
          <a:bodyPr/>
          <a:lstStyle/>
          <a:p>
            <a:endParaRPr lang="en-IN"/>
          </a:p>
        </p:txBody>
      </p:sp>
      <p:sp>
        <p:nvSpPr>
          <p:cNvPr id="26" name="Text 23"/>
          <p:cNvSpPr/>
          <p:nvPr/>
        </p:nvSpPr>
        <p:spPr>
          <a:xfrm>
            <a:off x="5852160" y="960120"/>
            <a:ext cx="3063240" cy="3749040"/>
          </a:xfrm>
          <a:prstGeom prst="rect">
            <a:avLst/>
          </a:prstGeom>
          <a:noFill/>
          <a:ln/>
        </p:spPr>
        <p:txBody>
          <a:bodyPr wrap="square" rtlCol="0" anchor="ctr"/>
          <a:lstStyle/>
          <a:p>
            <a:pPr marL="0" indent="0" algn="ctr">
              <a:buNone/>
            </a:pPr>
            <a:r>
              <a:rPr lang="en-US" sz="1050" i="1">
                <a:solidFill>
                  <a:srgbClr val="F5A623"/>
                </a:solidFill>
                <a:latin typeface="Calibri" pitchFamily="34" charset="0"/>
                <a:ea typeface="Calibri" pitchFamily="34" charset="-122"/>
                <a:cs typeface="Calibri" pitchFamily="34" charset="-120"/>
              </a:rPr>
              <a:t>[ Component Photo:</a:t>
            </a:r>
            <a:endParaRPr lang="en-US" sz="1050"/>
          </a:p>
          <a:p>
            <a:pPr marL="0" indent="0" algn="ctr">
              <a:buNone/>
            </a:pPr>
            <a:r>
              <a:rPr lang="en-US" sz="1050" i="1">
                <a:solidFill>
                  <a:srgbClr val="F5A623"/>
                </a:solidFill>
                <a:latin typeface="Calibri" pitchFamily="34" charset="0"/>
                <a:ea typeface="Calibri" pitchFamily="34" charset="-122"/>
                <a:cs typeface="Calibri" pitchFamily="34" charset="-120"/>
              </a:rPr>
              <a:t>LDR, TSL2561,</a:t>
            </a:r>
            <a:endParaRPr lang="en-US" sz="1050"/>
          </a:p>
          <a:p>
            <a:pPr marL="0" indent="0" algn="ctr">
              <a:buNone/>
            </a:pPr>
            <a:r>
              <a:rPr lang="en-US" sz="1050" i="1">
                <a:solidFill>
                  <a:srgbClr val="F5A623"/>
                </a:solidFill>
                <a:latin typeface="Calibri" pitchFamily="34" charset="0"/>
                <a:ea typeface="Calibri" pitchFamily="34" charset="-122"/>
                <a:cs typeface="Calibri" pitchFamily="34" charset="-120"/>
              </a:rPr>
              <a:t>BH1750, DHT22,</a:t>
            </a:r>
            <a:endParaRPr lang="en-US" sz="1050"/>
          </a:p>
          <a:p>
            <a:pPr marL="0" indent="0" algn="ctr">
              <a:buNone/>
            </a:pPr>
            <a:r>
              <a:rPr lang="en-US" sz="1050" i="1">
                <a:solidFill>
                  <a:srgbClr val="F5A623"/>
                </a:solidFill>
                <a:latin typeface="Calibri" pitchFamily="34" charset="0"/>
                <a:ea typeface="Calibri" pitchFamily="34" charset="-122"/>
                <a:cs typeface="Calibri" pitchFamily="34" charset="-120"/>
              </a:rPr>
              <a:t>ESP32 together ]</a:t>
            </a:r>
            <a:endParaRPr lang="en-US" sz="1050"/>
          </a:p>
        </p:txBody>
      </p:sp>
      <p:sp>
        <p:nvSpPr>
          <p:cNvPr id="27" name="Shape 24"/>
          <p:cNvSpPr/>
          <p:nvPr/>
        </p:nvSpPr>
        <p:spPr>
          <a:xfrm>
            <a:off x="0" y="4937760"/>
            <a:ext cx="9144000" cy="205740"/>
          </a:xfrm>
          <a:prstGeom prst="rect">
            <a:avLst/>
          </a:prstGeom>
          <a:solidFill>
            <a:srgbClr val="060F1C"/>
          </a:solidFill>
          <a:ln w="12700">
            <a:solidFill>
              <a:srgbClr val="060F1C"/>
            </a:solidFill>
            <a:prstDash val="solid"/>
          </a:ln>
        </p:spPr>
      </p:sp>
      <p:sp>
        <p:nvSpPr>
          <p:cNvPr id="28" name="Text 25"/>
          <p:cNvSpPr/>
          <p:nvPr/>
        </p:nvSpPr>
        <p:spPr>
          <a:xfrm>
            <a:off x="0" y="4937760"/>
            <a:ext cx="9144000" cy="205740"/>
          </a:xfrm>
          <a:prstGeom prst="rect">
            <a:avLst/>
          </a:prstGeom>
          <a:noFill/>
          <a:ln/>
        </p:spPr>
        <p:txBody>
          <a:bodyPr wrap="square" rtlCol="0" anchor="ctr"/>
          <a:lstStyle/>
          <a:p>
            <a:pPr marL="0" indent="0" algn="ctr">
              <a:buNone/>
            </a:pPr>
            <a:endParaRPr lang="en-US" sz="850"/>
          </a:p>
        </p:txBody>
      </p:sp>
      <p:sp>
        <p:nvSpPr>
          <p:cNvPr id="29" name="AutoShape 2">
            <a:extLst>
              <a:ext uri="{FF2B5EF4-FFF2-40B4-BE49-F238E27FC236}">
                <a16:creationId xmlns:a16="http://schemas.microsoft.com/office/drawing/2014/main" id="{472B1A7A-216B-E008-FB8C-63E547948714}"/>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1" name="Picture 30">
            <a:extLst>
              <a:ext uri="{FF2B5EF4-FFF2-40B4-BE49-F238E27FC236}">
                <a16:creationId xmlns:a16="http://schemas.microsoft.com/office/drawing/2014/main" id="{A42EAE7F-B5E7-7207-D8E1-7A35856A158C}"/>
              </a:ext>
            </a:extLst>
          </p:cNvPr>
          <p:cNvPicPr>
            <a:picLocks noChangeAspect="1"/>
          </p:cNvPicPr>
          <p:nvPr/>
        </p:nvPicPr>
        <p:blipFill>
          <a:blip r:embed="rId4"/>
          <a:stretch>
            <a:fillRect/>
          </a:stretch>
        </p:blipFill>
        <p:spPr>
          <a:xfrm>
            <a:off x="5760720" y="941832"/>
            <a:ext cx="3228073" cy="379566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1524"/>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A1E35"/>
          </a:solidFill>
          <a:ln w="12700">
            <a:solidFill>
              <a:srgbClr val="0A1E35"/>
            </a:solidFill>
            <a:prstDash val="solid"/>
          </a:ln>
        </p:spPr>
      </p:sp>
      <p:sp>
        <p:nvSpPr>
          <p:cNvPr id="3" name="Shape 1"/>
          <p:cNvSpPr/>
          <p:nvPr/>
        </p:nvSpPr>
        <p:spPr>
          <a:xfrm>
            <a:off x="0" y="0"/>
            <a:ext cx="91440" cy="804672"/>
          </a:xfrm>
          <a:prstGeom prst="rect">
            <a:avLst/>
          </a:prstGeom>
          <a:solidFill>
            <a:srgbClr val="00B4D8"/>
          </a:solidFill>
          <a:ln w="12700">
            <a:solidFill>
              <a:srgbClr val="00B4D8"/>
            </a:solidFill>
            <a:prstDash val="solid"/>
          </a:ln>
        </p:spPr>
      </p:sp>
      <p:sp>
        <p:nvSpPr>
          <p:cNvPr id="4" name="Text 2"/>
          <p:cNvSpPr/>
          <p:nvPr/>
        </p:nvSpPr>
        <p:spPr>
          <a:xfrm>
            <a:off x="228600" y="0"/>
            <a:ext cx="8686800" cy="804672"/>
          </a:xfrm>
          <a:prstGeom prst="rect">
            <a:avLst/>
          </a:prstGeom>
          <a:noFill/>
          <a:ln/>
        </p:spPr>
        <p:txBody>
          <a:bodyPr wrap="square" rtlCol="0" anchor="ctr"/>
          <a:lstStyle/>
          <a:p>
            <a:pPr marL="0" indent="0" algn="l">
              <a:buNone/>
            </a:pPr>
            <a:r>
              <a:rPr lang="en-US" sz="2600" b="1">
                <a:solidFill>
                  <a:srgbClr val="FFFFFF"/>
                </a:solidFill>
                <a:latin typeface="Calibri" pitchFamily="34" charset="0"/>
                <a:ea typeface="Calibri" pitchFamily="34" charset="-122"/>
                <a:cs typeface="Calibri" pitchFamily="34" charset="-120"/>
              </a:rPr>
              <a:t>Hardware and Software Used</a:t>
            </a:r>
            <a:endParaRPr lang="en-US" sz="2600"/>
          </a:p>
        </p:txBody>
      </p:sp>
      <p:sp>
        <p:nvSpPr>
          <p:cNvPr id="5" name="Shape 3"/>
          <p:cNvSpPr/>
          <p:nvPr/>
        </p:nvSpPr>
        <p:spPr>
          <a:xfrm>
            <a:off x="0" y="804672"/>
            <a:ext cx="91440" cy="4133088"/>
          </a:xfrm>
          <a:prstGeom prst="rect">
            <a:avLst/>
          </a:prstGeom>
          <a:solidFill>
            <a:srgbClr val="00B4D8"/>
          </a:solidFill>
          <a:ln w="12700">
            <a:solidFill>
              <a:srgbClr val="00B4D8"/>
            </a:solidFill>
            <a:prstDash val="solid"/>
          </a:ln>
        </p:spPr>
      </p:sp>
      <p:pic>
        <p:nvPicPr>
          <p:cNvPr id="6" name="Image 0" descr="preencoded.png"/>
          <p:cNvPicPr>
            <a:picLocks noChangeAspect="1"/>
          </p:cNvPicPr>
          <p:nvPr/>
        </p:nvPicPr>
        <p:blipFill>
          <a:blip r:embed="rId3"/>
          <a:stretch>
            <a:fillRect/>
          </a:stretch>
        </p:blipFill>
        <p:spPr>
          <a:xfrm>
            <a:off x="7818120" y="155448"/>
            <a:ext cx="475488" cy="475488"/>
          </a:xfrm>
          <a:prstGeom prst="rect">
            <a:avLst/>
          </a:prstGeom>
        </p:spPr>
      </p:pic>
      <p:sp>
        <p:nvSpPr>
          <p:cNvPr id="7" name="Shape 4"/>
          <p:cNvSpPr/>
          <p:nvPr/>
        </p:nvSpPr>
        <p:spPr>
          <a:xfrm>
            <a:off x="182880" y="941832"/>
            <a:ext cx="2880360" cy="365760"/>
          </a:xfrm>
          <a:prstGeom prst="rect">
            <a:avLst/>
          </a:prstGeom>
          <a:solidFill>
            <a:srgbClr val="005F73"/>
          </a:solidFill>
          <a:ln w="12700">
            <a:solidFill>
              <a:srgbClr val="00B4D8"/>
            </a:solidFill>
            <a:prstDash val="solid"/>
          </a:ln>
        </p:spPr>
      </p:sp>
      <p:sp>
        <p:nvSpPr>
          <p:cNvPr id="8" name="Text 5"/>
          <p:cNvSpPr/>
          <p:nvPr/>
        </p:nvSpPr>
        <p:spPr>
          <a:xfrm>
            <a:off x="182880" y="941832"/>
            <a:ext cx="2880360" cy="365760"/>
          </a:xfrm>
          <a:prstGeom prst="rect">
            <a:avLst/>
          </a:prstGeom>
          <a:noFill/>
          <a:ln/>
        </p:spPr>
        <p:txBody>
          <a:bodyPr wrap="square" rtlCol="0" anchor="ctr"/>
          <a:lstStyle/>
          <a:p>
            <a:pPr marL="0" indent="0" algn="ctr">
              <a:buNone/>
            </a:pPr>
            <a:r>
              <a:rPr lang="en-US" sz="1400" b="1">
                <a:solidFill>
                  <a:srgbClr val="00B4D8"/>
                </a:solidFill>
                <a:latin typeface="Calibri" pitchFamily="34" charset="0"/>
                <a:ea typeface="Calibri" pitchFamily="34" charset="-122"/>
                <a:cs typeface="Calibri" pitchFamily="34" charset="-120"/>
              </a:rPr>
              <a:t>⚙   Hardware</a:t>
            </a:r>
            <a:endParaRPr lang="en-US" sz="1400"/>
          </a:p>
        </p:txBody>
      </p:sp>
      <p:sp>
        <p:nvSpPr>
          <p:cNvPr id="9" name="Shape 6"/>
          <p:cNvSpPr/>
          <p:nvPr/>
        </p:nvSpPr>
        <p:spPr>
          <a:xfrm>
            <a:off x="256032" y="1517904"/>
            <a:ext cx="109728" cy="109728"/>
          </a:xfrm>
          <a:prstGeom prst="ellipse">
            <a:avLst/>
          </a:prstGeom>
          <a:solidFill>
            <a:srgbClr val="00B4D8"/>
          </a:solidFill>
          <a:ln w="12700">
            <a:solidFill>
              <a:srgbClr val="00B4D8"/>
            </a:solidFill>
            <a:prstDash val="solid"/>
          </a:ln>
        </p:spPr>
      </p:sp>
      <p:sp>
        <p:nvSpPr>
          <p:cNvPr id="10" name="Text 7"/>
          <p:cNvSpPr/>
          <p:nvPr/>
        </p:nvSpPr>
        <p:spPr>
          <a:xfrm>
            <a:off x="457200" y="1408176"/>
            <a:ext cx="2542032" cy="329184"/>
          </a:xfrm>
          <a:prstGeom prst="rect">
            <a:avLst/>
          </a:prstGeom>
          <a:noFill/>
          <a:ln/>
        </p:spPr>
        <p:txBody>
          <a:bodyPr wrap="square" rtlCol="0" anchor="ctr"/>
          <a:lstStyle/>
          <a:p>
            <a:pPr marL="0" indent="0" algn="l">
              <a:buNone/>
            </a:pPr>
            <a:r>
              <a:rPr lang="en-US" sz="1150">
                <a:solidFill>
                  <a:srgbClr val="E8F0FF"/>
                </a:solidFill>
                <a:latin typeface="Calibri" pitchFamily="34" charset="0"/>
                <a:ea typeface="Calibri" pitchFamily="34" charset="-122"/>
                <a:cs typeface="Calibri" pitchFamily="34" charset="-120"/>
              </a:rPr>
              <a:t>ESP32 — Main microcontroller</a:t>
            </a:r>
            <a:endParaRPr lang="en-US" sz="1150"/>
          </a:p>
        </p:txBody>
      </p:sp>
      <p:sp>
        <p:nvSpPr>
          <p:cNvPr id="11" name="Shape 8"/>
          <p:cNvSpPr/>
          <p:nvPr/>
        </p:nvSpPr>
        <p:spPr>
          <a:xfrm>
            <a:off x="256032" y="1865376"/>
            <a:ext cx="109728" cy="109728"/>
          </a:xfrm>
          <a:prstGeom prst="ellipse">
            <a:avLst/>
          </a:prstGeom>
          <a:solidFill>
            <a:srgbClr val="00B4D8"/>
          </a:solidFill>
          <a:ln w="12700">
            <a:solidFill>
              <a:srgbClr val="00B4D8"/>
            </a:solidFill>
            <a:prstDash val="solid"/>
          </a:ln>
        </p:spPr>
      </p:sp>
      <p:sp>
        <p:nvSpPr>
          <p:cNvPr id="12" name="Text 9"/>
          <p:cNvSpPr/>
          <p:nvPr/>
        </p:nvSpPr>
        <p:spPr>
          <a:xfrm>
            <a:off x="457200" y="1755648"/>
            <a:ext cx="2542032" cy="329184"/>
          </a:xfrm>
          <a:prstGeom prst="rect">
            <a:avLst/>
          </a:prstGeom>
          <a:noFill/>
          <a:ln/>
        </p:spPr>
        <p:txBody>
          <a:bodyPr wrap="square" rtlCol="0" anchor="ctr"/>
          <a:lstStyle/>
          <a:p>
            <a:pPr marL="0" indent="0" algn="l">
              <a:buNone/>
            </a:pPr>
            <a:r>
              <a:rPr lang="en-US" sz="1150">
                <a:solidFill>
                  <a:srgbClr val="E8F0FF"/>
                </a:solidFill>
                <a:latin typeface="Calibri" pitchFamily="34" charset="0"/>
                <a:ea typeface="Calibri" pitchFamily="34" charset="-122"/>
                <a:cs typeface="Calibri" pitchFamily="34" charset="-120"/>
              </a:rPr>
              <a:t>LDR — Primary light sensor</a:t>
            </a:r>
            <a:endParaRPr lang="en-US" sz="1150"/>
          </a:p>
        </p:txBody>
      </p:sp>
      <p:sp>
        <p:nvSpPr>
          <p:cNvPr id="13" name="Shape 10"/>
          <p:cNvSpPr/>
          <p:nvPr/>
        </p:nvSpPr>
        <p:spPr>
          <a:xfrm>
            <a:off x="256032" y="2212848"/>
            <a:ext cx="109728" cy="109728"/>
          </a:xfrm>
          <a:prstGeom prst="ellipse">
            <a:avLst/>
          </a:prstGeom>
          <a:solidFill>
            <a:srgbClr val="00B4D8"/>
          </a:solidFill>
          <a:ln w="12700">
            <a:solidFill>
              <a:srgbClr val="00B4D8"/>
            </a:solidFill>
            <a:prstDash val="solid"/>
          </a:ln>
        </p:spPr>
      </p:sp>
      <p:sp>
        <p:nvSpPr>
          <p:cNvPr id="14" name="Text 11"/>
          <p:cNvSpPr/>
          <p:nvPr/>
        </p:nvSpPr>
        <p:spPr>
          <a:xfrm>
            <a:off x="457200" y="2103120"/>
            <a:ext cx="2542032" cy="329184"/>
          </a:xfrm>
          <a:prstGeom prst="rect">
            <a:avLst/>
          </a:prstGeom>
          <a:noFill/>
          <a:ln/>
        </p:spPr>
        <p:txBody>
          <a:bodyPr wrap="square" rtlCol="0" anchor="ctr"/>
          <a:lstStyle/>
          <a:p>
            <a:pPr marL="0" indent="0" algn="l">
              <a:buNone/>
            </a:pPr>
            <a:r>
              <a:rPr lang="en-US" sz="1150">
                <a:solidFill>
                  <a:srgbClr val="E8F0FF"/>
                </a:solidFill>
                <a:latin typeface="Calibri" pitchFamily="34" charset="0"/>
                <a:ea typeface="Calibri" pitchFamily="34" charset="-122"/>
                <a:cs typeface="Calibri" pitchFamily="34" charset="-120"/>
              </a:rPr>
              <a:t>TSL2561 — Reference lux sensor</a:t>
            </a:r>
            <a:endParaRPr lang="en-US" sz="1150"/>
          </a:p>
        </p:txBody>
      </p:sp>
      <p:sp>
        <p:nvSpPr>
          <p:cNvPr id="15" name="Shape 12"/>
          <p:cNvSpPr/>
          <p:nvPr/>
        </p:nvSpPr>
        <p:spPr>
          <a:xfrm>
            <a:off x="256032" y="2560320"/>
            <a:ext cx="109728" cy="109728"/>
          </a:xfrm>
          <a:prstGeom prst="ellipse">
            <a:avLst/>
          </a:prstGeom>
          <a:solidFill>
            <a:srgbClr val="00B4D8"/>
          </a:solidFill>
          <a:ln w="12700">
            <a:solidFill>
              <a:srgbClr val="00B4D8"/>
            </a:solidFill>
            <a:prstDash val="solid"/>
          </a:ln>
        </p:spPr>
      </p:sp>
      <p:sp>
        <p:nvSpPr>
          <p:cNvPr id="16" name="Text 13"/>
          <p:cNvSpPr/>
          <p:nvPr/>
        </p:nvSpPr>
        <p:spPr>
          <a:xfrm>
            <a:off x="457200" y="2450592"/>
            <a:ext cx="2542032" cy="329184"/>
          </a:xfrm>
          <a:prstGeom prst="rect">
            <a:avLst/>
          </a:prstGeom>
          <a:noFill/>
          <a:ln/>
        </p:spPr>
        <p:txBody>
          <a:bodyPr wrap="square" rtlCol="0" anchor="ctr"/>
          <a:lstStyle/>
          <a:p>
            <a:pPr marL="0" indent="0" algn="l">
              <a:buNone/>
            </a:pPr>
            <a:r>
              <a:rPr lang="en-US" sz="1150">
                <a:solidFill>
                  <a:srgbClr val="E8F0FF"/>
                </a:solidFill>
                <a:latin typeface="Calibri" pitchFamily="34" charset="0"/>
                <a:ea typeface="Calibri" pitchFamily="34" charset="-122"/>
                <a:cs typeface="Calibri" pitchFamily="34" charset="-120"/>
              </a:rPr>
              <a:t>BH1750 — Validation sensor</a:t>
            </a:r>
            <a:endParaRPr lang="en-US" sz="1150"/>
          </a:p>
        </p:txBody>
      </p:sp>
      <p:sp>
        <p:nvSpPr>
          <p:cNvPr id="17" name="Shape 14"/>
          <p:cNvSpPr/>
          <p:nvPr/>
        </p:nvSpPr>
        <p:spPr>
          <a:xfrm>
            <a:off x="256032" y="2907792"/>
            <a:ext cx="109728" cy="109728"/>
          </a:xfrm>
          <a:prstGeom prst="ellipse">
            <a:avLst/>
          </a:prstGeom>
          <a:solidFill>
            <a:srgbClr val="00B4D8"/>
          </a:solidFill>
          <a:ln w="12700">
            <a:solidFill>
              <a:srgbClr val="00B4D8"/>
            </a:solidFill>
            <a:prstDash val="solid"/>
          </a:ln>
        </p:spPr>
      </p:sp>
      <p:sp>
        <p:nvSpPr>
          <p:cNvPr id="18" name="Text 15"/>
          <p:cNvSpPr/>
          <p:nvPr/>
        </p:nvSpPr>
        <p:spPr>
          <a:xfrm>
            <a:off x="457200" y="2798064"/>
            <a:ext cx="2542032" cy="329184"/>
          </a:xfrm>
          <a:prstGeom prst="rect">
            <a:avLst/>
          </a:prstGeom>
          <a:noFill/>
          <a:ln/>
        </p:spPr>
        <p:txBody>
          <a:bodyPr wrap="square" rtlCol="0" anchor="ctr"/>
          <a:lstStyle/>
          <a:p>
            <a:pPr marL="0" indent="0" algn="l">
              <a:buNone/>
            </a:pPr>
            <a:r>
              <a:rPr lang="en-US" sz="1150">
                <a:solidFill>
                  <a:srgbClr val="E8F0FF"/>
                </a:solidFill>
                <a:latin typeface="Calibri" pitchFamily="34" charset="0"/>
                <a:ea typeface="Calibri" pitchFamily="34" charset="-122"/>
                <a:cs typeface="Calibri" pitchFamily="34" charset="-120"/>
              </a:rPr>
              <a:t>DHT22 — Temperature sensor</a:t>
            </a:r>
            <a:endParaRPr lang="en-US" sz="1150"/>
          </a:p>
        </p:txBody>
      </p:sp>
      <p:sp>
        <p:nvSpPr>
          <p:cNvPr id="19" name="Shape 16"/>
          <p:cNvSpPr/>
          <p:nvPr/>
        </p:nvSpPr>
        <p:spPr>
          <a:xfrm>
            <a:off x="256032" y="3255264"/>
            <a:ext cx="109728" cy="109728"/>
          </a:xfrm>
          <a:prstGeom prst="ellipse">
            <a:avLst/>
          </a:prstGeom>
          <a:solidFill>
            <a:srgbClr val="00B4D8"/>
          </a:solidFill>
          <a:ln w="12700">
            <a:solidFill>
              <a:srgbClr val="00B4D8"/>
            </a:solidFill>
            <a:prstDash val="solid"/>
          </a:ln>
        </p:spPr>
      </p:sp>
      <p:sp>
        <p:nvSpPr>
          <p:cNvPr id="20" name="Text 17"/>
          <p:cNvSpPr/>
          <p:nvPr/>
        </p:nvSpPr>
        <p:spPr>
          <a:xfrm>
            <a:off x="457200" y="3145536"/>
            <a:ext cx="2542032" cy="329184"/>
          </a:xfrm>
          <a:prstGeom prst="rect">
            <a:avLst/>
          </a:prstGeom>
          <a:noFill/>
          <a:ln/>
        </p:spPr>
        <p:txBody>
          <a:bodyPr wrap="square" rtlCol="0" anchor="ctr"/>
          <a:lstStyle/>
          <a:p>
            <a:pPr marL="0" indent="0" algn="l">
              <a:buNone/>
            </a:pPr>
            <a:r>
              <a:rPr lang="en-US" sz="1150">
                <a:solidFill>
                  <a:srgbClr val="E8F0FF"/>
                </a:solidFill>
                <a:latin typeface="Calibri" pitchFamily="34" charset="0"/>
                <a:ea typeface="Calibri" pitchFamily="34" charset="-122"/>
                <a:cs typeface="Calibri" pitchFamily="34" charset="-120"/>
              </a:rPr>
              <a:t>OLED Display — Real-time output</a:t>
            </a:r>
            <a:endParaRPr lang="en-US" sz="1150"/>
          </a:p>
        </p:txBody>
      </p:sp>
      <p:sp>
        <p:nvSpPr>
          <p:cNvPr id="21" name="Shape 18"/>
          <p:cNvSpPr/>
          <p:nvPr/>
        </p:nvSpPr>
        <p:spPr>
          <a:xfrm>
            <a:off x="256032" y="3602736"/>
            <a:ext cx="109728" cy="109728"/>
          </a:xfrm>
          <a:prstGeom prst="ellipse">
            <a:avLst/>
          </a:prstGeom>
          <a:solidFill>
            <a:srgbClr val="00B4D8"/>
          </a:solidFill>
          <a:ln w="12700">
            <a:solidFill>
              <a:srgbClr val="00B4D8"/>
            </a:solidFill>
            <a:prstDash val="solid"/>
          </a:ln>
        </p:spPr>
      </p:sp>
      <p:sp>
        <p:nvSpPr>
          <p:cNvPr id="22" name="Text 19"/>
          <p:cNvSpPr/>
          <p:nvPr/>
        </p:nvSpPr>
        <p:spPr>
          <a:xfrm>
            <a:off x="457200" y="3493008"/>
            <a:ext cx="2542032" cy="329184"/>
          </a:xfrm>
          <a:prstGeom prst="rect">
            <a:avLst/>
          </a:prstGeom>
          <a:noFill/>
          <a:ln/>
        </p:spPr>
        <p:txBody>
          <a:bodyPr wrap="square" rtlCol="0" anchor="ctr"/>
          <a:lstStyle/>
          <a:p>
            <a:pPr marL="0" indent="0" algn="l">
              <a:buNone/>
            </a:pPr>
            <a:r>
              <a:rPr lang="en-US" sz="1150">
                <a:solidFill>
                  <a:srgbClr val="E8F0FF"/>
                </a:solidFill>
                <a:latin typeface="Calibri" pitchFamily="34" charset="0"/>
                <a:ea typeface="Calibri" pitchFamily="34" charset="-122"/>
                <a:cs typeface="Calibri" pitchFamily="34" charset="-120"/>
              </a:rPr>
              <a:t>LED Strip — Controlled lighting</a:t>
            </a:r>
            <a:endParaRPr lang="en-US" sz="1150"/>
          </a:p>
        </p:txBody>
      </p:sp>
      <p:sp>
        <p:nvSpPr>
          <p:cNvPr id="23" name="Shape 20"/>
          <p:cNvSpPr/>
          <p:nvPr/>
        </p:nvSpPr>
        <p:spPr>
          <a:xfrm>
            <a:off x="256032" y="3950208"/>
            <a:ext cx="109728" cy="109728"/>
          </a:xfrm>
          <a:prstGeom prst="ellipse">
            <a:avLst/>
          </a:prstGeom>
          <a:solidFill>
            <a:srgbClr val="00B4D8"/>
          </a:solidFill>
          <a:ln w="12700">
            <a:solidFill>
              <a:srgbClr val="00B4D8"/>
            </a:solidFill>
            <a:prstDash val="solid"/>
          </a:ln>
        </p:spPr>
      </p:sp>
      <p:sp>
        <p:nvSpPr>
          <p:cNvPr id="24" name="Text 21"/>
          <p:cNvSpPr/>
          <p:nvPr/>
        </p:nvSpPr>
        <p:spPr>
          <a:xfrm>
            <a:off x="457200" y="3840480"/>
            <a:ext cx="2542032" cy="329184"/>
          </a:xfrm>
          <a:prstGeom prst="rect">
            <a:avLst/>
          </a:prstGeom>
          <a:noFill/>
          <a:ln/>
        </p:spPr>
        <p:txBody>
          <a:bodyPr wrap="square" rtlCol="0" anchor="ctr"/>
          <a:lstStyle/>
          <a:p>
            <a:pPr marL="0" indent="0" algn="l">
              <a:buNone/>
            </a:pPr>
            <a:r>
              <a:rPr lang="en-US" sz="1150">
                <a:solidFill>
                  <a:srgbClr val="E8F0FF"/>
                </a:solidFill>
                <a:latin typeface="Calibri" pitchFamily="34" charset="0"/>
                <a:ea typeface="Calibri" pitchFamily="34" charset="-122"/>
                <a:cs typeface="Calibri" pitchFamily="34" charset="-120"/>
              </a:rPr>
              <a:t>MOSFET Driver — PWM switching</a:t>
            </a:r>
            <a:endParaRPr lang="en-US" sz="1150"/>
          </a:p>
        </p:txBody>
      </p:sp>
      <p:sp>
        <p:nvSpPr>
          <p:cNvPr id="25" name="Shape 22"/>
          <p:cNvSpPr/>
          <p:nvPr/>
        </p:nvSpPr>
        <p:spPr>
          <a:xfrm>
            <a:off x="256032" y="4297680"/>
            <a:ext cx="109728" cy="109728"/>
          </a:xfrm>
          <a:prstGeom prst="ellipse">
            <a:avLst/>
          </a:prstGeom>
          <a:solidFill>
            <a:srgbClr val="00B4D8"/>
          </a:solidFill>
          <a:ln w="12700">
            <a:solidFill>
              <a:srgbClr val="00B4D8"/>
            </a:solidFill>
            <a:prstDash val="solid"/>
          </a:ln>
        </p:spPr>
      </p:sp>
      <p:sp>
        <p:nvSpPr>
          <p:cNvPr id="26" name="Text 23"/>
          <p:cNvSpPr/>
          <p:nvPr/>
        </p:nvSpPr>
        <p:spPr>
          <a:xfrm>
            <a:off x="457200" y="4187952"/>
            <a:ext cx="2542032" cy="329184"/>
          </a:xfrm>
          <a:prstGeom prst="rect">
            <a:avLst/>
          </a:prstGeom>
          <a:noFill/>
          <a:ln/>
        </p:spPr>
        <p:txBody>
          <a:bodyPr wrap="square" rtlCol="0" anchor="ctr"/>
          <a:lstStyle/>
          <a:p>
            <a:pPr marL="0" indent="0" algn="l">
              <a:buNone/>
            </a:pPr>
            <a:r>
              <a:rPr lang="en-US" sz="1150">
                <a:solidFill>
                  <a:srgbClr val="E8F0FF"/>
                </a:solidFill>
                <a:latin typeface="Calibri" pitchFamily="34" charset="0"/>
                <a:ea typeface="Calibri" pitchFamily="34" charset="-122"/>
                <a:cs typeface="Calibri" pitchFamily="34" charset="-120"/>
              </a:rPr>
              <a:t>House Model — Demo prototype</a:t>
            </a:r>
            <a:endParaRPr lang="en-US" sz="1150"/>
          </a:p>
        </p:txBody>
      </p:sp>
      <p:sp>
        <p:nvSpPr>
          <p:cNvPr id="27" name="Shape 24"/>
          <p:cNvSpPr/>
          <p:nvPr/>
        </p:nvSpPr>
        <p:spPr>
          <a:xfrm>
            <a:off x="3246120" y="941832"/>
            <a:ext cx="2423160" cy="365760"/>
          </a:xfrm>
          <a:prstGeom prst="rect">
            <a:avLst/>
          </a:prstGeom>
          <a:solidFill>
            <a:srgbClr val="2A1A00"/>
          </a:solidFill>
          <a:ln w="12700">
            <a:solidFill>
              <a:srgbClr val="F5A623"/>
            </a:solidFill>
            <a:prstDash val="solid"/>
          </a:ln>
        </p:spPr>
      </p:sp>
      <p:sp>
        <p:nvSpPr>
          <p:cNvPr id="28" name="Text 25"/>
          <p:cNvSpPr/>
          <p:nvPr/>
        </p:nvSpPr>
        <p:spPr>
          <a:xfrm>
            <a:off x="3246120" y="941832"/>
            <a:ext cx="2423160" cy="365760"/>
          </a:xfrm>
          <a:prstGeom prst="rect">
            <a:avLst/>
          </a:prstGeom>
          <a:noFill/>
          <a:ln/>
        </p:spPr>
        <p:txBody>
          <a:bodyPr wrap="square" rtlCol="0" anchor="ctr"/>
          <a:lstStyle/>
          <a:p>
            <a:pPr marL="0" indent="0" algn="ctr">
              <a:buNone/>
            </a:pPr>
            <a:r>
              <a:rPr lang="en-US" sz="1400" b="1">
                <a:solidFill>
                  <a:srgbClr val="F5A623"/>
                </a:solidFill>
                <a:latin typeface="Calibri" pitchFamily="34" charset="0"/>
                <a:ea typeface="Calibri" pitchFamily="34" charset="-122"/>
                <a:cs typeface="Calibri" pitchFamily="34" charset="-120"/>
              </a:rPr>
              <a:t>💻   Software</a:t>
            </a:r>
            <a:endParaRPr lang="en-US" sz="1400"/>
          </a:p>
        </p:txBody>
      </p:sp>
      <p:sp>
        <p:nvSpPr>
          <p:cNvPr id="29" name="Shape 26"/>
          <p:cNvSpPr/>
          <p:nvPr/>
        </p:nvSpPr>
        <p:spPr>
          <a:xfrm>
            <a:off x="3319272" y="1563624"/>
            <a:ext cx="109728" cy="109728"/>
          </a:xfrm>
          <a:prstGeom prst="ellipse">
            <a:avLst/>
          </a:prstGeom>
          <a:solidFill>
            <a:srgbClr val="F5A623"/>
          </a:solidFill>
          <a:ln w="12700">
            <a:solidFill>
              <a:srgbClr val="F5A623"/>
            </a:solidFill>
            <a:prstDash val="solid"/>
          </a:ln>
        </p:spPr>
      </p:sp>
      <p:sp>
        <p:nvSpPr>
          <p:cNvPr id="30" name="Text 27"/>
          <p:cNvSpPr/>
          <p:nvPr/>
        </p:nvSpPr>
        <p:spPr>
          <a:xfrm>
            <a:off x="3520440" y="1408176"/>
            <a:ext cx="2057400" cy="438912"/>
          </a:xfrm>
          <a:prstGeom prst="rect">
            <a:avLst/>
          </a:prstGeom>
          <a:noFill/>
          <a:ln/>
        </p:spPr>
        <p:txBody>
          <a:bodyPr wrap="square" rtlCol="0" anchor="ctr"/>
          <a:lstStyle/>
          <a:p>
            <a:pPr marL="0" indent="0" algn="l">
              <a:buNone/>
            </a:pPr>
            <a:r>
              <a:rPr lang="en-US" sz="1250">
                <a:solidFill>
                  <a:srgbClr val="E8F0FF"/>
                </a:solidFill>
                <a:latin typeface="Calibri" pitchFamily="34" charset="0"/>
                <a:ea typeface="Calibri" pitchFamily="34" charset="-122"/>
                <a:cs typeface="Calibri" pitchFamily="34" charset="-120"/>
              </a:rPr>
              <a:t>Arduino IDE</a:t>
            </a:r>
            <a:endParaRPr lang="en-US" sz="1250"/>
          </a:p>
        </p:txBody>
      </p:sp>
      <p:sp>
        <p:nvSpPr>
          <p:cNvPr id="31" name="Shape 28"/>
          <p:cNvSpPr/>
          <p:nvPr/>
        </p:nvSpPr>
        <p:spPr>
          <a:xfrm>
            <a:off x="3319272" y="2039112"/>
            <a:ext cx="109728" cy="109728"/>
          </a:xfrm>
          <a:prstGeom prst="ellipse">
            <a:avLst/>
          </a:prstGeom>
          <a:solidFill>
            <a:srgbClr val="F5A623"/>
          </a:solidFill>
          <a:ln w="12700">
            <a:solidFill>
              <a:srgbClr val="F5A623"/>
            </a:solidFill>
            <a:prstDash val="solid"/>
          </a:ln>
        </p:spPr>
      </p:sp>
      <p:sp>
        <p:nvSpPr>
          <p:cNvPr id="32" name="Text 29"/>
          <p:cNvSpPr/>
          <p:nvPr/>
        </p:nvSpPr>
        <p:spPr>
          <a:xfrm>
            <a:off x="3520440" y="1883664"/>
            <a:ext cx="2057400" cy="438912"/>
          </a:xfrm>
          <a:prstGeom prst="rect">
            <a:avLst/>
          </a:prstGeom>
          <a:noFill/>
          <a:ln/>
        </p:spPr>
        <p:txBody>
          <a:bodyPr wrap="square" rtlCol="0" anchor="ctr"/>
          <a:lstStyle/>
          <a:p>
            <a:pPr marL="0" indent="0" algn="l">
              <a:buNone/>
            </a:pPr>
            <a:r>
              <a:rPr lang="en-US" sz="1250">
                <a:solidFill>
                  <a:srgbClr val="E8F0FF"/>
                </a:solidFill>
                <a:latin typeface="Calibri" pitchFamily="34" charset="0"/>
                <a:ea typeface="Calibri" pitchFamily="34" charset="-122"/>
                <a:cs typeface="Calibri" pitchFamily="34" charset="-120"/>
              </a:rPr>
              <a:t>Python 3</a:t>
            </a:r>
            <a:endParaRPr lang="en-US" sz="1250"/>
          </a:p>
        </p:txBody>
      </p:sp>
      <p:sp>
        <p:nvSpPr>
          <p:cNvPr id="33" name="Shape 30"/>
          <p:cNvSpPr/>
          <p:nvPr/>
        </p:nvSpPr>
        <p:spPr>
          <a:xfrm>
            <a:off x="3319272" y="2514600"/>
            <a:ext cx="109728" cy="109728"/>
          </a:xfrm>
          <a:prstGeom prst="ellipse">
            <a:avLst/>
          </a:prstGeom>
          <a:solidFill>
            <a:srgbClr val="F5A623"/>
          </a:solidFill>
          <a:ln w="12700">
            <a:solidFill>
              <a:srgbClr val="F5A623"/>
            </a:solidFill>
            <a:prstDash val="solid"/>
          </a:ln>
        </p:spPr>
      </p:sp>
      <p:sp>
        <p:nvSpPr>
          <p:cNvPr id="34" name="Text 31"/>
          <p:cNvSpPr/>
          <p:nvPr/>
        </p:nvSpPr>
        <p:spPr>
          <a:xfrm>
            <a:off x="3520440" y="2359152"/>
            <a:ext cx="2057400" cy="438912"/>
          </a:xfrm>
          <a:prstGeom prst="rect">
            <a:avLst/>
          </a:prstGeom>
          <a:noFill/>
          <a:ln/>
        </p:spPr>
        <p:txBody>
          <a:bodyPr wrap="square" rtlCol="0" anchor="ctr"/>
          <a:lstStyle/>
          <a:p>
            <a:pPr marL="0" indent="0" algn="l">
              <a:buNone/>
            </a:pPr>
            <a:r>
              <a:rPr lang="en-US" sz="1250">
                <a:solidFill>
                  <a:srgbClr val="E8F0FF"/>
                </a:solidFill>
                <a:latin typeface="Calibri" pitchFamily="34" charset="0"/>
                <a:ea typeface="Calibri" pitchFamily="34" charset="-122"/>
                <a:cs typeface="Calibri" pitchFamily="34" charset="-120"/>
              </a:rPr>
              <a:t>Regression ML Model</a:t>
            </a:r>
            <a:endParaRPr lang="en-US" sz="1250"/>
          </a:p>
        </p:txBody>
      </p:sp>
      <p:sp>
        <p:nvSpPr>
          <p:cNvPr id="35" name="Shape 32"/>
          <p:cNvSpPr/>
          <p:nvPr/>
        </p:nvSpPr>
        <p:spPr>
          <a:xfrm>
            <a:off x="3319272" y="2990088"/>
            <a:ext cx="109728" cy="109728"/>
          </a:xfrm>
          <a:prstGeom prst="ellipse">
            <a:avLst/>
          </a:prstGeom>
          <a:solidFill>
            <a:srgbClr val="F5A623"/>
          </a:solidFill>
          <a:ln w="12700">
            <a:solidFill>
              <a:srgbClr val="F5A623"/>
            </a:solidFill>
            <a:prstDash val="solid"/>
          </a:ln>
        </p:spPr>
      </p:sp>
      <p:sp>
        <p:nvSpPr>
          <p:cNvPr id="36" name="Text 33"/>
          <p:cNvSpPr/>
          <p:nvPr/>
        </p:nvSpPr>
        <p:spPr>
          <a:xfrm>
            <a:off x="3520440" y="2834640"/>
            <a:ext cx="2057400" cy="438912"/>
          </a:xfrm>
          <a:prstGeom prst="rect">
            <a:avLst/>
          </a:prstGeom>
          <a:noFill/>
          <a:ln/>
        </p:spPr>
        <p:txBody>
          <a:bodyPr wrap="square" rtlCol="0" anchor="ctr"/>
          <a:lstStyle/>
          <a:p>
            <a:pPr marL="0" indent="0" algn="l">
              <a:buNone/>
            </a:pPr>
            <a:r>
              <a:rPr lang="en-US" sz="1250">
                <a:solidFill>
                  <a:srgbClr val="E8F0FF"/>
                </a:solidFill>
                <a:latin typeface="Calibri" pitchFamily="34" charset="0"/>
                <a:ea typeface="Calibri" pitchFamily="34" charset="-122"/>
                <a:cs typeface="Calibri" pitchFamily="34" charset="-120"/>
              </a:rPr>
              <a:t>Dataset Preprocessing</a:t>
            </a:r>
            <a:endParaRPr lang="en-US" sz="1250"/>
          </a:p>
        </p:txBody>
      </p:sp>
      <p:sp>
        <p:nvSpPr>
          <p:cNvPr id="37" name="Shape 34"/>
          <p:cNvSpPr/>
          <p:nvPr/>
        </p:nvSpPr>
        <p:spPr>
          <a:xfrm>
            <a:off x="3319272" y="3465576"/>
            <a:ext cx="109728" cy="109728"/>
          </a:xfrm>
          <a:prstGeom prst="ellipse">
            <a:avLst/>
          </a:prstGeom>
          <a:solidFill>
            <a:srgbClr val="F5A623"/>
          </a:solidFill>
          <a:ln w="12700">
            <a:solidFill>
              <a:srgbClr val="F5A623"/>
            </a:solidFill>
            <a:prstDash val="solid"/>
          </a:ln>
        </p:spPr>
      </p:sp>
      <p:sp>
        <p:nvSpPr>
          <p:cNvPr id="38" name="Text 35"/>
          <p:cNvSpPr/>
          <p:nvPr/>
        </p:nvSpPr>
        <p:spPr>
          <a:xfrm>
            <a:off x="3520440" y="3310128"/>
            <a:ext cx="2057400" cy="438912"/>
          </a:xfrm>
          <a:prstGeom prst="rect">
            <a:avLst/>
          </a:prstGeom>
          <a:noFill/>
          <a:ln/>
        </p:spPr>
        <p:txBody>
          <a:bodyPr wrap="square" rtlCol="0" anchor="ctr"/>
          <a:lstStyle/>
          <a:p>
            <a:pPr marL="0" indent="0" algn="l">
              <a:buNone/>
            </a:pPr>
            <a:r>
              <a:rPr lang="en-US" sz="1250">
                <a:solidFill>
                  <a:srgbClr val="E8F0FF"/>
                </a:solidFill>
                <a:latin typeface="Calibri" pitchFamily="34" charset="0"/>
                <a:ea typeface="Calibri" pitchFamily="34" charset="-122"/>
                <a:cs typeface="Calibri" pitchFamily="34" charset="-120"/>
              </a:rPr>
              <a:t>Data Analysis Tools</a:t>
            </a:r>
            <a:endParaRPr lang="en-US" sz="1250"/>
          </a:p>
        </p:txBody>
      </p:sp>
      <p:sp>
        <p:nvSpPr>
          <p:cNvPr id="39" name="Shape 36"/>
          <p:cNvSpPr/>
          <p:nvPr/>
        </p:nvSpPr>
        <p:spPr>
          <a:xfrm>
            <a:off x="5897880" y="941832"/>
            <a:ext cx="3017520" cy="3794760"/>
          </a:xfrm>
          <a:prstGeom prst="rect">
            <a:avLst/>
          </a:prstGeom>
          <a:solidFill>
            <a:srgbClr val="0A1E35"/>
          </a:solidFill>
          <a:ln w="15240">
            <a:solidFill>
              <a:srgbClr val="F5A623"/>
            </a:solidFill>
            <a:prstDash val="dash"/>
          </a:ln>
        </p:spPr>
      </p:sp>
      <p:sp>
        <p:nvSpPr>
          <p:cNvPr id="40" name="Text 37"/>
          <p:cNvSpPr/>
          <p:nvPr/>
        </p:nvSpPr>
        <p:spPr>
          <a:xfrm>
            <a:off x="5897880" y="941832"/>
            <a:ext cx="3017520" cy="3794760"/>
          </a:xfrm>
          <a:prstGeom prst="rect">
            <a:avLst/>
          </a:prstGeom>
          <a:noFill/>
          <a:ln/>
        </p:spPr>
        <p:txBody>
          <a:bodyPr wrap="square" rtlCol="0" anchor="ctr"/>
          <a:lstStyle/>
          <a:p>
            <a:pPr marL="0" indent="0" algn="ctr">
              <a:buNone/>
            </a:pPr>
            <a:r>
              <a:rPr lang="en-US" sz="1050" i="1">
                <a:solidFill>
                  <a:srgbClr val="F5A623"/>
                </a:solidFill>
                <a:latin typeface="Calibri" pitchFamily="34" charset="0"/>
                <a:ea typeface="Calibri" pitchFamily="34" charset="-122"/>
                <a:cs typeface="Calibri" pitchFamily="34" charset="-120"/>
              </a:rPr>
              <a:t>[ Hardware Setup</a:t>
            </a:r>
            <a:endParaRPr lang="en-US" sz="1050"/>
          </a:p>
          <a:p>
            <a:pPr marL="0" indent="0" algn="ctr">
              <a:buNone/>
            </a:pPr>
            <a:r>
              <a:rPr lang="en-US" sz="1050" i="1">
                <a:solidFill>
                  <a:srgbClr val="F5A623"/>
                </a:solidFill>
                <a:latin typeface="Calibri" pitchFamily="34" charset="0"/>
                <a:ea typeface="Calibri" pitchFamily="34" charset="-122"/>
                <a:cs typeface="Calibri" pitchFamily="34" charset="-120"/>
              </a:rPr>
              <a:t>Photo or</a:t>
            </a:r>
            <a:endParaRPr lang="en-US" sz="1050"/>
          </a:p>
          <a:p>
            <a:pPr marL="0" indent="0" algn="ctr">
              <a:buNone/>
            </a:pPr>
            <a:r>
              <a:rPr lang="en-US" sz="1050" i="1">
                <a:solidFill>
                  <a:srgbClr val="F5A623"/>
                </a:solidFill>
                <a:latin typeface="Calibri" pitchFamily="34" charset="0"/>
                <a:ea typeface="Calibri" pitchFamily="34" charset="-122"/>
                <a:cs typeface="Calibri" pitchFamily="34" charset="-120"/>
              </a:rPr>
              <a:t>Component Layout ]</a:t>
            </a:r>
            <a:endParaRPr lang="en-US" sz="1050"/>
          </a:p>
        </p:txBody>
      </p:sp>
      <p:sp>
        <p:nvSpPr>
          <p:cNvPr id="41" name="Shape 38"/>
          <p:cNvSpPr/>
          <p:nvPr/>
        </p:nvSpPr>
        <p:spPr>
          <a:xfrm>
            <a:off x="0" y="4937760"/>
            <a:ext cx="9144000" cy="205740"/>
          </a:xfrm>
          <a:prstGeom prst="rect">
            <a:avLst/>
          </a:prstGeom>
          <a:solidFill>
            <a:srgbClr val="060F1C"/>
          </a:solidFill>
          <a:ln w="12700">
            <a:solidFill>
              <a:srgbClr val="060F1C"/>
            </a:solidFill>
            <a:prstDash val="solid"/>
          </a:ln>
        </p:spPr>
      </p:sp>
      <p:pic>
        <p:nvPicPr>
          <p:cNvPr id="44" name="Picture 43">
            <a:extLst>
              <a:ext uri="{FF2B5EF4-FFF2-40B4-BE49-F238E27FC236}">
                <a16:creationId xmlns:a16="http://schemas.microsoft.com/office/drawing/2014/main" id="{940B3616-B8A6-2505-D613-15CEDE401485}"/>
              </a:ext>
            </a:extLst>
          </p:cNvPr>
          <p:cNvPicPr>
            <a:picLocks noChangeAspect="1"/>
          </p:cNvPicPr>
          <p:nvPr/>
        </p:nvPicPr>
        <p:blipFill>
          <a:blip r:embed="rId4"/>
          <a:stretch>
            <a:fillRect/>
          </a:stretch>
        </p:blipFill>
        <p:spPr>
          <a:xfrm>
            <a:off x="5852160" y="932688"/>
            <a:ext cx="3154680" cy="383133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40B15"/>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A1E35"/>
          </a:solidFill>
          <a:ln w="12700">
            <a:solidFill>
              <a:srgbClr val="0A1E35"/>
            </a:solidFill>
            <a:prstDash val="solid"/>
          </a:ln>
        </p:spPr>
      </p:sp>
      <p:sp>
        <p:nvSpPr>
          <p:cNvPr id="3" name="Shape 1"/>
          <p:cNvSpPr/>
          <p:nvPr/>
        </p:nvSpPr>
        <p:spPr>
          <a:xfrm>
            <a:off x="0" y="0"/>
            <a:ext cx="91440" cy="804672"/>
          </a:xfrm>
          <a:prstGeom prst="rect">
            <a:avLst/>
          </a:prstGeom>
          <a:solidFill>
            <a:srgbClr val="F5A623"/>
          </a:solidFill>
          <a:ln w="12700">
            <a:solidFill>
              <a:srgbClr val="F5A623"/>
            </a:solidFill>
            <a:prstDash val="solid"/>
          </a:ln>
        </p:spPr>
      </p:sp>
      <p:sp>
        <p:nvSpPr>
          <p:cNvPr id="4" name="Text 2"/>
          <p:cNvSpPr/>
          <p:nvPr/>
        </p:nvSpPr>
        <p:spPr>
          <a:xfrm>
            <a:off x="228600" y="0"/>
            <a:ext cx="8686800" cy="804672"/>
          </a:xfrm>
          <a:prstGeom prst="rect">
            <a:avLst/>
          </a:prstGeom>
          <a:noFill/>
          <a:ln/>
        </p:spPr>
        <p:txBody>
          <a:bodyPr wrap="square" rtlCol="0" anchor="ctr"/>
          <a:lstStyle/>
          <a:p>
            <a:pPr marL="0" indent="0" algn="l">
              <a:buNone/>
            </a:pPr>
            <a:r>
              <a:rPr lang="en-US" sz="2600" b="1">
                <a:solidFill>
                  <a:srgbClr val="FFFFFF"/>
                </a:solidFill>
                <a:latin typeface="Calibri" pitchFamily="34" charset="0"/>
                <a:ea typeface="Calibri" pitchFamily="34" charset="-122"/>
                <a:cs typeface="Calibri" pitchFamily="34" charset="-120"/>
              </a:rPr>
              <a:t>System Architecture</a:t>
            </a:r>
            <a:endParaRPr lang="en-US" sz="2600"/>
          </a:p>
        </p:txBody>
      </p:sp>
      <p:sp>
        <p:nvSpPr>
          <p:cNvPr id="5" name="Shape 3"/>
          <p:cNvSpPr/>
          <p:nvPr/>
        </p:nvSpPr>
        <p:spPr>
          <a:xfrm>
            <a:off x="0" y="804672"/>
            <a:ext cx="91440" cy="4133088"/>
          </a:xfrm>
          <a:prstGeom prst="rect">
            <a:avLst/>
          </a:prstGeom>
          <a:solidFill>
            <a:srgbClr val="F5A623"/>
          </a:solidFill>
          <a:ln w="12700">
            <a:solidFill>
              <a:srgbClr val="F5A623"/>
            </a:solidFill>
            <a:prstDash val="solid"/>
          </a:ln>
        </p:spPr>
      </p:sp>
      <p:pic>
        <p:nvPicPr>
          <p:cNvPr id="6" name="Image 0" descr="preencoded.png"/>
          <p:cNvPicPr>
            <a:picLocks noChangeAspect="1"/>
          </p:cNvPicPr>
          <p:nvPr/>
        </p:nvPicPr>
        <p:blipFill>
          <a:blip r:embed="rId3"/>
          <a:stretch>
            <a:fillRect/>
          </a:stretch>
        </p:blipFill>
        <p:spPr>
          <a:xfrm>
            <a:off x="8183880" y="182880"/>
            <a:ext cx="457200" cy="457200"/>
          </a:xfrm>
          <a:prstGeom prst="rect">
            <a:avLst/>
          </a:prstGeom>
        </p:spPr>
      </p:pic>
      <p:sp>
        <p:nvSpPr>
          <p:cNvPr id="7" name="Shape 4"/>
          <p:cNvSpPr/>
          <p:nvPr/>
        </p:nvSpPr>
        <p:spPr>
          <a:xfrm>
            <a:off x="182880" y="960120"/>
            <a:ext cx="1024128" cy="749808"/>
          </a:xfrm>
          <a:prstGeom prst="rect">
            <a:avLst/>
          </a:prstGeom>
          <a:solidFill>
            <a:srgbClr val="0A2035"/>
          </a:solidFill>
          <a:ln w="19050">
            <a:solidFill>
              <a:srgbClr val="00B4D8"/>
            </a:solidFill>
            <a:prstDash val="solid"/>
          </a:ln>
        </p:spPr>
      </p:sp>
      <p:sp>
        <p:nvSpPr>
          <p:cNvPr id="8" name="Text 5"/>
          <p:cNvSpPr/>
          <p:nvPr/>
        </p:nvSpPr>
        <p:spPr>
          <a:xfrm>
            <a:off x="182880" y="960120"/>
            <a:ext cx="1024128" cy="749808"/>
          </a:xfrm>
          <a:prstGeom prst="rect">
            <a:avLst/>
          </a:prstGeom>
          <a:noFill/>
          <a:ln/>
        </p:spPr>
        <p:txBody>
          <a:bodyPr wrap="square"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Sensors</a:t>
            </a:r>
            <a:endParaRPr lang="en-US" sz="900"/>
          </a:p>
          <a:p>
            <a:pPr marL="0" indent="0" algn="ctr">
              <a:buNone/>
            </a:pPr>
            <a:r>
              <a:rPr lang="en-US" sz="900" b="1">
                <a:solidFill>
                  <a:srgbClr val="FFFFFF"/>
                </a:solidFill>
                <a:latin typeface="Calibri" pitchFamily="34" charset="0"/>
                <a:ea typeface="Calibri" pitchFamily="34" charset="-122"/>
                <a:cs typeface="Calibri" pitchFamily="34" charset="-120"/>
              </a:rPr>
              <a:t>LDR · TSL2561</a:t>
            </a:r>
            <a:endParaRPr lang="en-US" sz="900"/>
          </a:p>
          <a:p>
            <a:pPr marL="0" indent="0" algn="ctr">
              <a:buNone/>
            </a:pPr>
            <a:r>
              <a:rPr lang="en-US" sz="900" b="1">
                <a:solidFill>
                  <a:srgbClr val="FFFFFF"/>
                </a:solidFill>
                <a:latin typeface="Calibri" pitchFamily="34" charset="0"/>
                <a:ea typeface="Calibri" pitchFamily="34" charset="-122"/>
                <a:cs typeface="Calibri" pitchFamily="34" charset="-120"/>
              </a:rPr>
              <a:t>BH1750 · DHT22</a:t>
            </a:r>
            <a:endParaRPr lang="en-US" sz="900"/>
          </a:p>
        </p:txBody>
      </p:sp>
      <p:sp>
        <p:nvSpPr>
          <p:cNvPr id="9" name="Shape 6"/>
          <p:cNvSpPr/>
          <p:nvPr/>
        </p:nvSpPr>
        <p:spPr>
          <a:xfrm>
            <a:off x="1207008" y="1307592"/>
            <a:ext cx="182880" cy="54864"/>
          </a:xfrm>
          <a:prstGeom prst="rect">
            <a:avLst/>
          </a:prstGeom>
          <a:solidFill>
            <a:srgbClr val="7E93B5"/>
          </a:solidFill>
          <a:ln w="12700">
            <a:solidFill>
              <a:srgbClr val="7E93B5"/>
            </a:solidFill>
            <a:prstDash val="solid"/>
          </a:ln>
        </p:spPr>
      </p:sp>
      <p:sp>
        <p:nvSpPr>
          <p:cNvPr id="10" name="Shape 7"/>
          <p:cNvSpPr/>
          <p:nvPr/>
        </p:nvSpPr>
        <p:spPr>
          <a:xfrm>
            <a:off x="1389888" y="960120"/>
            <a:ext cx="1024128" cy="749808"/>
          </a:xfrm>
          <a:prstGeom prst="rect">
            <a:avLst/>
          </a:prstGeom>
          <a:solidFill>
            <a:srgbClr val="0A2035"/>
          </a:solidFill>
          <a:ln w="19050">
            <a:solidFill>
              <a:srgbClr val="00B4D8"/>
            </a:solidFill>
            <a:prstDash val="solid"/>
          </a:ln>
        </p:spPr>
      </p:sp>
      <p:sp>
        <p:nvSpPr>
          <p:cNvPr id="11" name="Text 8"/>
          <p:cNvSpPr/>
          <p:nvPr/>
        </p:nvSpPr>
        <p:spPr>
          <a:xfrm>
            <a:off x="1389888" y="960120"/>
            <a:ext cx="1024128" cy="749808"/>
          </a:xfrm>
          <a:prstGeom prst="rect">
            <a:avLst/>
          </a:prstGeom>
          <a:noFill/>
          <a:ln/>
        </p:spPr>
        <p:txBody>
          <a:bodyPr wrap="square"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ESP32</a:t>
            </a:r>
            <a:endParaRPr lang="en-US" sz="900"/>
          </a:p>
          <a:p>
            <a:pPr marL="0" indent="0" algn="ctr">
              <a:buNone/>
            </a:pPr>
            <a:r>
              <a:rPr lang="en-US" sz="900" b="1">
                <a:solidFill>
                  <a:srgbClr val="FFFFFF"/>
                </a:solidFill>
                <a:latin typeface="Calibri" pitchFamily="34" charset="0"/>
                <a:ea typeface="Calibri" pitchFamily="34" charset="-122"/>
                <a:cs typeface="Calibri" pitchFamily="34" charset="-120"/>
              </a:rPr>
              <a:t>Controller</a:t>
            </a:r>
            <a:endParaRPr lang="en-US" sz="900"/>
          </a:p>
        </p:txBody>
      </p:sp>
      <p:sp>
        <p:nvSpPr>
          <p:cNvPr id="12" name="Shape 9"/>
          <p:cNvSpPr/>
          <p:nvPr/>
        </p:nvSpPr>
        <p:spPr>
          <a:xfrm>
            <a:off x="2414016" y="1307592"/>
            <a:ext cx="182880" cy="54864"/>
          </a:xfrm>
          <a:prstGeom prst="rect">
            <a:avLst/>
          </a:prstGeom>
          <a:solidFill>
            <a:srgbClr val="7E93B5"/>
          </a:solidFill>
          <a:ln w="12700">
            <a:solidFill>
              <a:srgbClr val="7E93B5"/>
            </a:solidFill>
            <a:prstDash val="solid"/>
          </a:ln>
        </p:spPr>
      </p:sp>
      <p:sp>
        <p:nvSpPr>
          <p:cNvPr id="13" name="Shape 10"/>
          <p:cNvSpPr/>
          <p:nvPr/>
        </p:nvSpPr>
        <p:spPr>
          <a:xfrm>
            <a:off x="2596896" y="960120"/>
            <a:ext cx="1024128" cy="749808"/>
          </a:xfrm>
          <a:prstGeom prst="rect">
            <a:avLst/>
          </a:prstGeom>
          <a:solidFill>
            <a:srgbClr val="1A0F30"/>
          </a:solidFill>
          <a:ln w="19050">
            <a:solidFill>
              <a:srgbClr val="A855F7"/>
            </a:solidFill>
            <a:prstDash val="solid"/>
          </a:ln>
        </p:spPr>
      </p:sp>
      <p:sp>
        <p:nvSpPr>
          <p:cNvPr id="14" name="Text 11"/>
          <p:cNvSpPr/>
          <p:nvPr/>
        </p:nvSpPr>
        <p:spPr>
          <a:xfrm>
            <a:off x="2596896" y="960120"/>
            <a:ext cx="1024128" cy="749808"/>
          </a:xfrm>
          <a:prstGeom prst="rect">
            <a:avLst/>
          </a:prstGeom>
          <a:noFill/>
          <a:ln/>
        </p:spPr>
        <p:txBody>
          <a:bodyPr wrap="square"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Calibration</a:t>
            </a:r>
            <a:endParaRPr lang="en-US" sz="900"/>
          </a:p>
          <a:p>
            <a:pPr marL="0" indent="0" algn="ctr">
              <a:buNone/>
            </a:pPr>
            <a:r>
              <a:rPr lang="en-US" sz="900" b="1">
                <a:solidFill>
                  <a:srgbClr val="FFFFFF"/>
                </a:solidFill>
                <a:latin typeface="Calibri" pitchFamily="34" charset="0"/>
                <a:ea typeface="Calibri" pitchFamily="34" charset="-122"/>
                <a:cs typeface="Calibri" pitchFamily="34" charset="-120"/>
              </a:rPr>
              <a:t>ML Model</a:t>
            </a:r>
            <a:endParaRPr lang="en-US" sz="900"/>
          </a:p>
        </p:txBody>
      </p:sp>
      <p:sp>
        <p:nvSpPr>
          <p:cNvPr id="15" name="Shape 12"/>
          <p:cNvSpPr/>
          <p:nvPr/>
        </p:nvSpPr>
        <p:spPr>
          <a:xfrm>
            <a:off x="3621024" y="1307592"/>
            <a:ext cx="182880" cy="54864"/>
          </a:xfrm>
          <a:prstGeom prst="rect">
            <a:avLst/>
          </a:prstGeom>
          <a:solidFill>
            <a:srgbClr val="7E93B5"/>
          </a:solidFill>
          <a:ln w="12700">
            <a:solidFill>
              <a:srgbClr val="7E93B5"/>
            </a:solidFill>
            <a:prstDash val="solid"/>
          </a:ln>
        </p:spPr>
      </p:sp>
      <p:sp>
        <p:nvSpPr>
          <p:cNvPr id="16" name="Shape 13"/>
          <p:cNvSpPr/>
          <p:nvPr/>
        </p:nvSpPr>
        <p:spPr>
          <a:xfrm>
            <a:off x="3803904" y="960120"/>
            <a:ext cx="1024128" cy="749808"/>
          </a:xfrm>
          <a:prstGeom prst="rect">
            <a:avLst/>
          </a:prstGeom>
          <a:solidFill>
            <a:srgbClr val="0F2A20"/>
          </a:solidFill>
          <a:ln w="19050">
            <a:solidFill>
              <a:srgbClr val="22C55E"/>
            </a:solidFill>
            <a:prstDash val="solid"/>
          </a:ln>
        </p:spPr>
      </p:sp>
      <p:sp>
        <p:nvSpPr>
          <p:cNvPr id="17" name="Text 14"/>
          <p:cNvSpPr/>
          <p:nvPr/>
        </p:nvSpPr>
        <p:spPr>
          <a:xfrm>
            <a:off x="3803904" y="960120"/>
            <a:ext cx="1024128" cy="749808"/>
          </a:xfrm>
          <a:prstGeom prst="rect">
            <a:avLst/>
          </a:prstGeom>
          <a:noFill/>
          <a:ln/>
        </p:spPr>
        <p:txBody>
          <a:bodyPr wrap="square"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Calibrated</a:t>
            </a:r>
            <a:endParaRPr lang="en-US" sz="900"/>
          </a:p>
          <a:p>
            <a:pPr marL="0" indent="0" algn="ctr">
              <a:buNone/>
            </a:pPr>
            <a:r>
              <a:rPr lang="en-US" sz="900" b="1">
                <a:solidFill>
                  <a:srgbClr val="FFFFFF"/>
                </a:solidFill>
                <a:latin typeface="Calibri" pitchFamily="34" charset="0"/>
                <a:ea typeface="Calibri" pitchFamily="34" charset="-122"/>
                <a:cs typeface="Calibri" pitchFamily="34" charset="-120"/>
              </a:rPr>
              <a:t>Lux Value</a:t>
            </a:r>
            <a:endParaRPr lang="en-US" sz="900"/>
          </a:p>
        </p:txBody>
      </p:sp>
      <p:sp>
        <p:nvSpPr>
          <p:cNvPr id="18" name="Shape 15"/>
          <p:cNvSpPr/>
          <p:nvPr/>
        </p:nvSpPr>
        <p:spPr>
          <a:xfrm>
            <a:off x="4828032" y="1307592"/>
            <a:ext cx="182880" cy="54864"/>
          </a:xfrm>
          <a:prstGeom prst="rect">
            <a:avLst/>
          </a:prstGeom>
          <a:solidFill>
            <a:srgbClr val="7E93B5"/>
          </a:solidFill>
          <a:ln w="12700">
            <a:solidFill>
              <a:srgbClr val="7E93B5"/>
            </a:solidFill>
            <a:prstDash val="solid"/>
          </a:ln>
        </p:spPr>
      </p:sp>
      <p:sp>
        <p:nvSpPr>
          <p:cNvPr id="19" name="Shape 16"/>
          <p:cNvSpPr/>
          <p:nvPr/>
        </p:nvSpPr>
        <p:spPr>
          <a:xfrm>
            <a:off x="5010912" y="960120"/>
            <a:ext cx="1024128" cy="749808"/>
          </a:xfrm>
          <a:prstGeom prst="rect">
            <a:avLst/>
          </a:prstGeom>
          <a:solidFill>
            <a:srgbClr val="1A1400"/>
          </a:solidFill>
          <a:ln w="19050">
            <a:solidFill>
              <a:srgbClr val="F5A623"/>
            </a:solidFill>
            <a:prstDash val="solid"/>
          </a:ln>
        </p:spPr>
      </p:sp>
      <p:sp>
        <p:nvSpPr>
          <p:cNvPr id="20" name="Text 17"/>
          <p:cNvSpPr/>
          <p:nvPr/>
        </p:nvSpPr>
        <p:spPr>
          <a:xfrm>
            <a:off x="5010912" y="960120"/>
            <a:ext cx="1024128" cy="749808"/>
          </a:xfrm>
          <a:prstGeom prst="rect">
            <a:avLst/>
          </a:prstGeom>
          <a:noFill/>
          <a:ln/>
        </p:spPr>
        <p:txBody>
          <a:bodyPr wrap="square"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Threshold</a:t>
            </a:r>
            <a:endParaRPr lang="en-US" sz="900"/>
          </a:p>
          <a:p>
            <a:pPr marL="0" indent="0" algn="ctr">
              <a:buNone/>
            </a:pPr>
            <a:r>
              <a:rPr lang="en-US" sz="900" b="1">
                <a:solidFill>
                  <a:srgbClr val="FFFFFF"/>
                </a:solidFill>
                <a:latin typeface="Calibri" pitchFamily="34" charset="0"/>
                <a:ea typeface="Calibri" pitchFamily="34" charset="-122"/>
                <a:cs typeface="Calibri" pitchFamily="34" charset="-120"/>
              </a:rPr>
              <a:t>Decision</a:t>
            </a:r>
            <a:endParaRPr lang="en-US" sz="900"/>
          </a:p>
        </p:txBody>
      </p:sp>
      <p:sp>
        <p:nvSpPr>
          <p:cNvPr id="21" name="Shape 18"/>
          <p:cNvSpPr/>
          <p:nvPr/>
        </p:nvSpPr>
        <p:spPr>
          <a:xfrm>
            <a:off x="6035040" y="1307592"/>
            <a:ext cx="182880" cy="54864"/>
          </a:xfrm>
          <a:prstGeom prst="rect">
            <a:avLst/>
          </a:prstGeom>
          <a:solidFill>
            <a:srgbClr val="7E93B5"/>
          </a:solidFill>
          <a:ln w="12700">
            <a:solidFill>
              <a:srgbClr val="7E93B5"/>
            </a:solidFill>
            <a:prstDash val="solid"/>
          </a:ln>
        </p:spPr>
      </p:sp>
      <p:sp>
        <p:nvSpPr>
          <p:cNvPr id="22" name="Shape 19"/>
          <p:cNvSpPr/>
          <p:nvPr/>
        </p:nvSpPr>
        <p:spPr>
          <a:xfrm>
            <a:off x="6217920" y="960120"/>
            <a:ext cx="1024128" cy="749808"/>
          </a:xfrm>
          <a:prstGeom prst="rect">
            <a:avLst/>
          </a:prstGeom>
          <a:solidFill>
            <a:srgbClr val="0F2A20"/>
          </a:solidFill>
          <a:ln w="19050">
            <a:solidFill>
              <a:srgbClr val="22C55E"/>
            </a:solidFill>
            <a:prstDash val="solid"/>
          </a:ln>
        </p:spPr>
      </p:sp>
      <p:sp>
        <p:nvSpPr>
          <p:cNvPr id="23" name="Text 20"/>
          <p:cNvSpPr/>
          <p:nvPr/>
        </p:nvSpPr>
        <p:spPr>
          <a:xfrm>
            <a:off x="6217920" y="960120"/>
            <a:ext cx="1024128" cy="749808"/>
          </a:xfrm>
          <a:prstGeom prst="rect">
            <a:avLst/>
          </a:prstGeom>
          <a:noFill/>
          <a:ln/>
        </p:spPr>
        <p:txBody>
          <a:bodyPr wrap="square"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MOSFET</a:t>
            </a:r>
            <a:endParaRPr lang="en-US" sz="900"/>
          </a:p>
          <a:p>
            <a:pPr marL="0" indent="0" algn="ctr">
              <a:buNone/>
            </a:pPr>
            <a:r>
              <a:rPr lang="en-US" sz="900" b="1">
                <a:solidFill>
                  <a:srgbClr val="FFFFFF"/>
                </a:solidFill>
                <a:latin typeface="Calibri" pitchFamily="34" charset="0"/>
                <a:ea typeface="Calibri" pitchFamily="34" charset="-122"/>
                <a:cs typeface="Calibri" pitchFamily="34" charset="-120"/>
              </a:rPr>
              <a:t>Driver</a:t>
            </a:r>
            <a:endParaRPr lang="en-US" sz="900"/>
          </a:p>
        </p:txBody>
      </p:sp>
      <p:sp>
        <p:nvSpPr>
          <p:cNvPr id="24" name="Shape 21"/>
          <p:cNvSpPr/>
          <p:nvPr/>
        </p:nvSpPr>
        <p:spPr>
          <a:xfrm>
            <a:off x="7242048" y="1307592"/>
            <a:ext cx="182880" cy="54864"/>
          </a:xfrm>
          <a:prstGeom prst="rect">
            <a:avLst/>
          </a:prstGeom>
          <a:solidFill>
            <a:srgbClr val="7E93B5"/>
          </a:solidFill>
          <a:ln w="12700">
            <a:solidFill>
              <a:srgbClr val="7E93B5"/>
            </a:solidFill>
            <a:prstDash val="solid"/>
          </a:ln>
        </p:spPr>
      </p:sp>
      <p:sp>
        <p:nvSpPr>
          <p:cNvPr id="25" name="Shape 22"/>
          <p:cNvSpPr/>
          <p:nvPr/>
        </p:nvSpPr>
        <p:spPr>
          <a:xfrm>
            <a:off x="7424928" y="960120"/>
            <a:ext cx="1024128" cy="749808"/>
          </a:xfrm>
          <a:prstGeom prst="rect">
            <a:avLst/>
          </a:prstGeom>
          <a:solidFill>
            <a:srgbClr val="1A0F00"/>
          </a:solidFill>
          <a:ln w="19050">
            <a:solidFill>
              <a:srgbClr val="F5A623"/>
            </a:solidFill>
            <a:prstDash val="solid"/>
          </a:ln>
        </p:spPr>
      </p:sp>
      <p:sp>
        <p:nvSpPr>
          <p:cNvPr id="26" name="Text 23"/>
          <p:cNvSpPr/>
          <p:nvPr/>
        </p:nvSpPr>
        <p:spPr>
          <a:xfrm>
            <a:off x="7424928" y="960120"/>
            <a:ext cx="1024128" cy="749808"/>
          </a:xfrm>
          <a:prstGeom prst="rect">
            <a:avLst/>
          </a:prstGeom>
          <a:noFill/>
          <a:ln/>
        </p:spPr>
        <p:txBody>
          <a:bodyPr wrap="square"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LED</a:t>
            </a:r>
            <a:endParaRPr lang="en-US" sz="900"/>
          </a:p>
          <a:p>
            <a:pPr marL="0" indent="0" algn="ctr">
              <a:buNone/>
            </a:pPr>
            <a:r>
              <a:rPr lang="en-US" sz="900" b="1">
                <a:solidFill>
                  <a:srgbClr val="FFFFFF"/>
                </a:solidFill>
                <a:latin typeface="Calibri" pitchFamily="34" charset="0"/>
                <a:ea typeface="Calibri" pitchFamily="34" charset="-122"/>
                <a:cs typeface="Calibri" pitchFamily="34" charset="-120"/>
              </a:rPr>
              <a:t>Control</a:t>
            </a:r>
            <a:endParaRPr lang="en-US" sz="900"/>
          </a:p>
        </p:txBody>
      </p:sp>
      <p:sp>
        <p:nvSpPr>
          <p:cNvPr id="27" name="Shape 24"/>
          <p:cNvSpPr/>
          <p:nvPr/>
        </p:nvSpPr>
        <p:spPr>
          <a:xfrm>
            <a:off x="1869948" y="1709928"/>
            <a:ext cx="64008" cy="320040"/>
          </a:xfrm>
          <a:prstGeom prst="rect">
            <a:avLst/>
          </a:prstGeom>
          <a:solidFill>
            <a:srgbClr val="7E93B5"/>
          </a:solidFill>
          <a:ln w="12700">
            <a:solidFill>
              <a:srgbClr val="7E93B5"/>
            </a:solidFill>
            <a:prstDash val="solid"/>
          </a:ln>
        </p:spPr>
      </p:sp>
      <p:sp>
        <p:nvSpPr>
          <p:cNvPr id="28" name="Shape 25"/>
          <p:cNvSpPr/>
          <p:nvPr/>
        </p:nvSpPr>
        <p:spPr>
          <a:xfrm>
            <a:off x="1252728" y="2029968"/>
            <a:ext cx="1280160" cy="384048"/>
          </a:xfrm>
          <a:prstGeom prst="rect">
            <a:avLst/>
          </a:prstGeom>
          <a:solidFill>
            <a:srgbClr val="0A1520"/>
          </a:solidFill>
          <a:ln w="10160">
            <a:solidFill>
              <a:srgbClr val="00B4D8"/>
            </a:solidFill>
            <a:prstDash val="solid"/>
          </a:ln>
        </p:spPr>
      </p:sp>
      <p:sp>
        <p:nvSpPr>
          <p:cNvPr id="29" name="Text 26"/>
          <p:cNvSpPr/>
          <p:nvPr/>
        </p:nvSpPr>
        <p:spPr>
          <a:xfrm>
            <a:off x="1252728" y="2029968"/>
            <a:ext cx="1280160" cy="384048"/>
          </a:xfrm>
          <a:prstGeom prst="rect">
            <a:avLst/>
          </a:prstGeom>
          <a:noFill/>
          <a:ln/>
        </p:spPr>
        <p:txBody>
          <a:bodyPr wrap="square" rtlCol="0" anchor="ctr"/>
          <a:lstStyle/>
          <a:p>
            <a:pPr marL="0" indent="0" algn="ctr">
              <a:buNone/>
            </a:pPr>
            <a:r>
              <a:rPr lang="en-US" sz="850">
                <a:solidFill>
                  <a:srgbClr val="00B4D8"/>
                </a:solidFill>
                <a:latin typeface="Calibri" pitchFamily="34" charset="0"/>
                <a:ea typeface="Calibri" pitchFamily="34" charset="-122"/>
                <a:cs typeface="Calibri" pitchFamily="34" charset="-120"/>
              </a:rPr>
              <a:t>OLED Display</a:t>
            </a:r>
            <a:endParaRPr lang="en-US" sz="850"/>
          </a:p>
          <a:p>
            <a:pPr marL="0" indent="0" algn="ctr">
              <a:buNone/>
            </a:pPr>
            <a:r>
              <a:rPr lang="en-US" sz="850">
                <a:solidFill>
                  <a:srgbClr val="00B4D8"/>
                </a:solidFill>
                <a:latin typeface="Calibri" pitchFamily="34" charset="0"/>
                <a:ea typeface="Calibri" pitchFamily="34" charset="-122"/>
                <a:cs typeface="Calibri" pitchFamily="34" charset="-120"/>
              </a:rPr>
              <a:t>(Real-time values)</a:t>
            </a:r>
            <a:endParaRPr lang="en-US" sz="850"/>
          </a:p>
        </p:txBody>
      </p:sp>
      <p:sp>
        <p:nvSpPr>
          <p:cNvPr id="30" name="Shape 27"/>
          <p:cNvSpPr/>
          <p:nvPr/>
        </p:nvSpPr>
        <p:spPr>
          <a:xfrm>
            <a:off x="192024" y="2441448"/>
            <a:ext cx="73152" cy="274320"/>
          </a:xfrm>
          <a:prstGeom prst="rect">
            <a:avLst/>
          </a:prstGeom>
          <a:solidFill>
            <a:srgbClr val="F5A623"/>
          </a:solidFill>
          <a:ln w="12700">
            <a:solidFill>
              <a:srgbClr val="F5A623"/>
            </a:solidFill>
            <a:prstDash val="solid"/>
          </a:ln>
        </p:spPr>
      </p:sp>
      <p:sp>
        <p:nvSpPr>
          <p:cNvPr id="31" name="Text 28"/>
          <p:cNvSpPr/>
          <p:nvPr/>
        </p:nvSpPr>
        <p:spPr>
          <a:xfrm>
            <a:off x="365760" y="2364205"/>
            <a:ext cx="8549640" cy="438912"/>
          </a:xfrm>
          <a:prstGeom prst="rect">
            <a:avLst/>
          </a:prstGeom>
          <a:noFill/>
          <a:ln/>
        </p:spPr>
        <p:txBody>
          <a:bodyPr wrap="square" rtlCol="0" anchor="ctr"/>
          <a:lstStyle/>
          <a:p>
            <a:pPr marL="0" indent="0" algn="l">
              <a:buNone/>
            </a:pPr>
            <a:r>
              <a:rPr lang="en-US" sz="1300">
                <a:solidFill>
                  <a:srgbClr val="E8F0FF"/>
                </a:solidFill>
                <a:latin typeface="Calibri" pitchFamily="34" charset="0"/>
                <a:ea typeface="Calibri" pitchFamily="34" charset="-122"/>
                <a:cs typeface="Calibri" pitchFamily="34" charset="-120"/>
              </a:rPr>
              <a:t>Sensor data is collected in real time from all four sensors</a:t>
            </a:r>
            <a:endParaRPr lang="en-US" sz="1300"/>
          </a:p>
        </p:txBody>
      </p:sp>
      <p:sp>
        <p:nvSpPr>
          <p:cNvPr id="32" name="Shape 29"/>
          <p:cNvSpPr/>
          <p:nvPr/>
        </p:nvSpPr>
        <p:spPr>
          <a:xfrm>
            <a:off x="182880" y="2889504"/>
            <a:ext cx="73152" cy="274320"/>
          </a:xfrm>
          <a:prstGeom prst="rect">
            <a:avLst/>
          </a:prstGeom>
          <a:solidFill>
            <a:srgbClr val="F5A623"/>
          </a:solidFill>
          <a:ln w="12700">
            <a:solidFill>
              <a:srgbClr val="F5A623"/>
            </a:solidFill>
            <a:prstDash val="solid"/>
          </a:ln>
        </p:spPr>
      </p:sp>
      <p:sp>
        <p:nvSpPr>
          <p:cNvPr id="33" name="Text 30"/>
          <p:cNvSpPr/>
          <p:nvPr/>
        </p:nvSpPr>
        <p:spPr>
          <a:xfrm>
            <a:off x="381882" y="2806245"/>
            <a:ext cx="8549640" cy="438912"/>
          </a:xfrm>
          <a:prstGeom prst="rect">
            <a:avLst/>
          </a:prstGeom>
          <a:noFill/>
          <a:ln/>
        </p:spPr>
        <p:txBody>
          <a:bodyPr wrap="square" rtlCol="0" anchor="ctr"/>
          <a:lstStyle/>
          <a:p>
            <a:pPr marL="0" indent="0" algn="l">
              <a:buNone/>
            </a:pPr>
            <a:r>
              <a:rPr lang="en-US" sz="1300">
                <a:solidFill>
                  <a:srgbClr val="E8F0FF"/>
                </a:solidFill>
                <a:latin typeface="Calibri" pitchFamily="34" charset="0"/>
                <a:ea typeface="Calibri" pitchFamily="34" charset="-122"/>
                <a:cs typeface="Calibri" pitchFamily="34" charset="-120"/>
              </a:rPr>
              <a:t>Calibration ML model estimates corrected lux from raw input values</a:t>
            </a:r>
            <a:endParaRPr lang="en-US" sz="1300"/>
          </a:p>
        </p:txBody>
      </p:sp>
      <p:sp>
        <p:nvSpPr>
          <p:cNvPr id="34" name="Shape 31"/>
          <p:cNvSpPr/>
          <p:nvPr/>
        </p:nvSpPr>
        <p:spPr>
          <a:xfrm>
            <a:off x="175902" y="3436941"/>
            <a:ext cx="73152" cy="274320"/>
          </a:xfrm>
          <a:prstGeom prst="rect">
            <a:avLst/>
          </a:prstGeom>
          <a:solidFill>
            <a:srgbClr val="F5A623"/>
          </a:solidFill>
          <a:ln w="12700">
            <a:solidFill>
              <a:srgbClr val="F5A623"/>
            </a:solidFill>
            <a:prstDash val="solid"/>
          </a:ln>
        </p:spPr>
      </p:sp>
      <p:sp>
        <p:nvSpPr>
          <p:cNvPr id="35" name="Text 32"/>
          <p:cNvSpPr/>
          <p:nvPr/>
        </p:nvSpPr>
        <p:spPr>
          <a:xfrm>
            <a:off x="381882" y="3319272"/>
            <a:ext cx="8549640" cy="438912"/>
          </a:xfrm>
          <a:prstGeom prst="rect">
            <a:avLst/>
          </a:prstGeom>
          <a:noFill/>
          <a:ln/>
        </p:spPr>
        <p:txBody>
          <a:bodyPr wrap="square" rtlCol="0" anchor="ctr"/>
          <a:lstStyle/>
          <a:p>
            <a:pPr marL="0" indent="0" algn="l">
              <a:buNone/>
            </a:pPr>
            <a:r>
              <a:rPr lang="en-US" sz="1300">
                <a:solidFill>
                  <a:srgbClr val="E8F0FF"/>
                </a:solidFill>
                <a:latin typeface="Calibri" pitchFamily="34" charset="0"/>
                <a:ea typeface="Calibri" pitchFamily="34" charset="-122"/>
                <a:cs typeface="Calibri" pitchFamily="34" charset="-120"/>
              </a:rPr>
              <a:t>Calibrated lux is compared to a threshold to trigger automatic LED ON / OFF</a:t>
            </a:r>
            <a:endParaRPr lang="en-US" sz="1300"/>
          </a:p>
        </p:txBody>
      </p:sp>
      <p:sp>
        <p:nvSpPr>
          <p:cNvPr id="36" name="Shape 33"/>
          <p:cNvSpPr/>
          <p:nvPr/>
        </p:nvSpPr>
        <p:spPr>
          <a:xfrm>
            <a:off x="0" y="4937760"/>
            <a:ext cx="9144000" cy="205740"/>
          </a:xfrm>
          <a:prstGeom prst="rect">
            <a:avLst/>
          </a:prstGeom>
          <a:solidFill>
            <a:srgbClr val="060F1C"/>
          </a:solidFill>
          <a:ln w="12700">
            <a:solidFill>
              <a:srgbClr val="060F1C"/>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111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A1E35"/>
          </a:solidFill>
          <a:ln w="12700">
            <a:solidFill>
              <a:srgbClr val="0A1E35"/>
            </a:solidFill>
            <a:prstDash val="solid"/>
          </a:ln>
        </p:spPr>
      </p:sp>
      <p:sp>
        <p:nvSpPr>
          <p:cNvPr id="3" name="Shape 1"/>
          <p:cNvSpPr/>
          <p:nvPr/>
        </p:nvSpPr>
        <p:spPr>
          <a:xfrm>
            <a:off x="0" y="0"/>
            <a:ext cx="91440" cy="804672"/>
          </a:xfrm>
          <a:prstGeom prst="rect">
            <a:avLst/>
          </a:prstGeom>
          <a:solidFill>
            <a:srgbClr val="00B4D8"/>
          </a:solidFill>
          <a:ln w="12700">
            <a:solidFill>
              <a:srgbClr val="00B4D8"/>
            </a:solidFill>
            <a:prstDash val="solid"/>
          </a:ln>
        </p:spPr>
      </p:sp>
      <p:sp>
        <p:nvSpPr>
          <p:cNvPr id="4" name="Text 2"/>
          <p:cNvSpPr/>
          <p:nvPr/>
        </p:nvSpPr>
        <p:spPr>
          <a:xfrm>
            <a:off x="228600" y="0"/>
            <a:ext cx="8686800" cy="804672"/>
          </a:xfrm>
          <a:prstGeom prst="rect">
            <a:avLst/>
          </a:prstGeom>
          <a:noFill/>
          <a:ln/>
        </p:spPr>
        <p:txBody>
          <a:bodyPr wrap="square" rtlCol="0" anchor="ctr"/>
          <a:lstStyle/>
          <a:p>
            <a:pPr marL="0" indent="0" algn="l">
              <a:buNone/>
            </a:pPr>
            <a:r>
              <a:rPr lang="en-US" sz="2600" b="1">
                <a:solidFill>
                  <a:srgbClr val="FFFFFF"/>
                </a:solidFill>
                <a:latin typeface="Calibri" pitchFamily="34" charset="0"/>
                <a:ea typeface="Calibri" pitchFamily="34" charset="-122"/>
                <a:cs typeface="Calibri" pitchFamily="34" charset="-120"/>
              </a:rPr>
              <a:t>Dataset Generation  and  ML Calibration</a:t>
            </a:r>
            <a:endParaRPr lang="en-US" sz="2600"/>
          </a:p>
        </p:txBody>
      </p:sp>
      <p:sp>
        <p:nvSpPr>
          <p:cNvPr id="5" name="Shape 3"/>
          <p:cNvSpPr/>
          <p:nvPr/>
        </p:nvSpPr>
        <p:spPr>
          <a:xfrm>
            <a:off x="0" y="804672"/>
            <a:ext cx="91440" cy="4133088"/>
          </a:xfrm>
          <a:prstGeom prst="rect">
            <a:avLst/>
          </a:prstGeom>
          <a:solidFill>
            <a:srgbClr val="00B4D8"/>
          </a:solidFill>
          <a:ln w="12700">
            <a:solidFill>
              <a:srgbClr val="00B4D8"/>
            </a:solidFill>
            <a:prstDash val="solid"/>
          </a:ln>
        </p:spPr>
      </p:sp>
      <p:pic>
        <p:nvPicPr>
          <p:cNvPr id="6" name="Image 0" descr="preencoded.png"/>
          <p:cNvPicPr>
            <a:picLocks noChangeAspect="1"/>
          </p:cNvPicPr>
          <p:nvPr/>
        </p:nvPicPr>
        <p:blipFill>
          <a:blip r:embed="rId3"/>
          <a:stretch>
            <a:fillRect/>
          </a:stretch>
        </p:blipFill>
        <p:spPr>
          <a:xfrm>
            <a:off x="8183880" y="182880"/>
            <a:ext cx="457200" cy="457200"/>
          </a:xfrm>
          <a:prstGeom prst="rect">
            <a:avLst/>
          </a:prstGeom>
        </p:spPr>
      </p:pic>
      <p:sp>
        <p:nvSpPr>
          <p:cNvPr id="7" name="Shape 4"/>
          <p:cNvSpPr/>
          <p:nvPr/>
        </p:nvSpPr>
        <p:spPr>
          <a:xfrm>
            <a:off x="182880" y="987552"/>
            <a:ext cx="1371600" cy="384048"/>
          </a:xfrm>
          <a:prstGeom prst="rect">
            <a:avLst/>
          </a:prstGeom>
          <a:solidFill>
            <a:srgbClr val="005F73"/>
          </a:solidFill>
          <a:ln w="10160">
            <a:solidFill>
              <a:srgbClr val="00B4D8"/>
            </a:solidFill>
            <a:prstDash val="solid"/>
          </a:ln>
        </p:spPr>
      </p:sp>
      <p:sp>
        <p:nvSpPr>
          <p:cNvPr id="8" name="Text 5"/>
          <p:cNvSpPr/>
          <p:nvPr/>
        </p:nvSpPr>
        <p:spPr>
          <a:xfrm>
            <a:off x="182880" y="987552"/>
            <a:ext cx="1371600" cy="384048"/>
          </a:xfrm>
          <a:prstGeom prst="rect">
            <a:avLst/>
          </a:prstGeom>
          <a:noFill/>
          <a:ln/>
        </p:spPr>
        <p:txBody>
          <a:bodyPr wrap="square" rtlCol="0" anchor="ctr"/>
          <a:lstStyle/>
          <a:p>
            <a:pPr marL="0" indent="0" algn="ctr">
              <a:buNone/>
            </a:pPr>
            <a:r>
              <a:rPr lang="en-US" sz="1000" b="1">
                <a:solidFill>
                  <a:srgbClr val="00B4D8"/>
                </a:solidFill>
                <a:latin typeface="Calibri" pitchFamily="34" charset="0"/>
                <a:ea typeface="Calibri" pitchFamily="34" charset="-122"/>
                <a:cs typeface="Calibri" pitchFamily="34" charset="-120"/>
              </a:rPr>
              <a:t>Parameters</a:t>
            </a:r>
            <a:endParaRPr lang="en-US" sz="1000"/>
          </a:p>
        </p:txBody>
      </p:sp>
      <p:sp>
        <p:nvSpPr>
          <p:cNvPr id="9" name="Text 6"/>
          <p:cNvSpPr/>
          <p:nvPr/>
        </p:nvSpPr>
        <p:spPr>
          <a:xfrm>
            <a:off x="1691640" y="987552"/>
            <a:ext cx="3566160" cy="475488"/>
          </a:xfrm>
          <a:prstGeom prst="rect">
            <a:avLst/>
          </a:prstGeom>
          <a:noFill/>
          <a:ln/>
        </p:spPr>
        <p:txBody>
          <a:bodyPr wrap="square" rtlCol="0" anchor="ctr"/>
          <a:lstStyle/>
          <a:p>
            <a:pPr marL="0" indent="0" algn="l">
              <a:buNone/>
            </a:pPr>
            <a:r>
              <a:rPr lang="en-US" sz="1250">
                <a:solidFill>
                  <a:srgbClr val="E8F0FF"/>
                </a:solidFill>
                <a:latin typeface="Calibri" pitchFamily="34" charset="0"/>
                <a:ea typeface="Calibri" pitchFamily="34" charset="-122"/>
                <a:cs typeface="Calibri" pitchFamily="34" charset="-120"/>
              </a:rPr>
              <a:t>Time · LDR · Temperature · TSL2561 (lux) · BH1750 (lux)</a:t>
            </a:r>
            <a:endParaRPr lang="en-US" sz="1250"/>
          </a:p>
        </p:txBody>
      </p:sp>
      <p:sp>
        <p:nvSpPr>
          <p:cNvPr id="10" name="Shape 7"/>
          <p:cNvSpPr/>
          <p:nvPr/>
        </p:nvSpPr>
        <p:spPr>
          <a:xfrm>
            <a:off x="182880" y="1655064"/>
            <a:ext cx="1371600" cy="384048"/>
          </a:xfrm>
          <a:prstGeom prst="rect">
            <a:avLst/>
          </a:prstGeom>
          <a:solidFill>
            <a:srgbClr val="005F73"/>
          </a:solidFill>
          <a:ln w="10160">
            <a:solidFill>
              <a:srgbClr val="00B4D8"/>
            </a:solidFill>
            <a:prstDash val="solid"/>
          </a:ln>
        </p:spPr>
      </p:sp>
      <p:sp>
        <p:nvSpPr>
          <p:cNvPr id="11" name="Text 8"/>
          <p:cNvSpPr/>
          <p:nvPr/>
        </p:nvSpPr>
        <p:spPr>
          <a:xfrm>
            <a:off x="182880" y="1655064"/>
            <a:ext cx="1371600" cy="384048"/>
          </a:xfrm>
          <a:prstGeom prst="rect">
            <a:avLst/>
          </a:prstGeom>
          <a:noFill/>
          <a:ln/>
        </p:spPr>
        <p:txBody>
          <a:bodyPr wrap="square" rtlCol="0" anchor="ctr"/>
          <a:lstStyle/>
          <a:p>
            <a:pPr marL="0" indent="0" algn="ctr">
              <a:buNone/>
            </a:pPr>
            <a:r>
              <a:rPr lang="en-US" sz="1000" b="1">
                <a:solidFill>
                  <a:srgbClr val="00B4D8"/>
                </a:solidFill>
                <a:latin typeface="Calibri" pitchFamily="34" charset="0"/>
                <a:ea typeface="Calibri" pitchFamily="34" charset="-122"/>
                <a:cs typeface="Calibri" pitchFamily="34" charset="-120"/>
              </a:rPr>
              <a:t>Collection</a:t>
            </a:r>
            <a:endParaRPr lang="en-US" sz="1000"/>
          </a:p>
        </p:txBody>
      </p:sp>
      <p:sp>
        <p:nvSpPr>
          <p:cNvPr id="12" name="Text 9"/>
          <p:cNvSpPr/>
          <p:nvPr/>
        </p:nvSpPr>
        <p:spPr>
          <a:xfrm>
            <a:off x="1691640" y="1655064"/>
            <a:ext cx="3566160" cy="475488"/>
          </a:xfrm>
          <a:prstGeom prst="rect">
            <a:avLst/>
          </a:prstGeom>
          <a:noFill/>
          <a:ln/>
        </p:spPr>
        <p:txBody>
          <a:bodyPr wrap="square" rtlCol="0" anchor="ctr"/>
          <a:lstStyle/>
          <a:p>
            <a:pPr marL="0" indent="0" algn="l">
              <a:buNone/>
            </a:pPr>
            <a:r>
              <a:rPr lang="en-US" sz="1250">
                <a:solidFill>
                  <a:srgbClr val="E8F0FF"/>
                </a:solidFill>
                <a:latin typeface="Calibri" pitchFamily="34" charset="0"/>
                <a:ea typeface="Calibri" pitchFamily="34" charset="-122"/>
                <a:cs typeface="Calibri" pitchFamily="34" charset="-120"/>
              </a:rPr>
              <a:t>Recorded under varied indoor lighting conditions</a:t>
            </a:r>
            <a:endParaRPr lang="en-US" sz="1250"/>
          </a:p>
        </p:txBody>
      </p:sp>
      <p:sp>
        <p:nvSpPr>
          <p:cNvPr id="13" name="Shape 10"/>
          <p:cNvSpPr/>
          <p:nvPr/>
        </p:nvSpPr>
        <p:spPr>
          <a:xfrm>
            <a:off x="182880" y="2322576"/>
            <a:ext cx="1371600" cy="384048"/>
          </a:xfrm>
          <a:prstGeom prst="rect">
            <a:avLst/>
          </a:prstGeom>
          <a:solidFill>
            <a:srgbClr val="005F73"/>
          </a:solidFill>
          <a:ln w="10160">
            <a:solidFill>
              <a:srgbClr val="00B4D8"/>
            </a:solidFill>
            <a:prstDash val="solid"/>
          </a:ln>
        </p:spPr>
      </p:sp>
      <p:sp>
        <p:nvSpPr>
          <p:cNvPr id="14" name="Text 11"/>
          <p:cNvSpPr/>
          <p:nvPr/>
        </p:nvSpPr>
        <p:spPr>
          <a:xfrm>
            <a:off x="182880" y="2322576"/>
            <a:ext cx="1371600" cy="384048"/>
          </a:xfrm>
          <a:prstGeom prst="rect">
            <a:avLst/>
          </a:prstGeom>
          <a:noFill/>
          <a:ln/>
        </p:spPr>
        <p:txBody>
          <a:bodyPr wrap="square" rtlCol="0" anchor="ctr"/>
          <a:lstStyle/>
          <a:p>
            <a:pPr marL="0" indent="0" algn="ctr">
              <a:buNone/>
            </a:pPr>
            <a:r>
              <a:rPr lang="en-US" sz="1000" b="1">
                <a:solidFill>
                  <a:srgbClr val="00B4D8"/>
                </a:solidFill>
                <a:latin typeface="Calibri" pitchFamily="34" charset="0"/>
                <a:ea typeface="Calibri" pitchFamily="34" charset="-122"/>
                <a:cs typeface="Calibri" pitchFamily="34" charset="-120"/>
              </a:rPr>
              <a:t>ML Target</a:t>
            </a:r>
            <a:endParaRPr lang="en-US" sz="1000"/>
          </a:p>
        </p:txBody>
      </p:sp>
      <p:sp>
        <p:nvSpPr>
          <p:cNvPr id="15" name="Text 12"/>
          <p:cNvSpPr/>
          <p:nvPr/>
        </p:nvSpPr>
        <p:spPr>
          <a:xfrm>
            <a:off x="1691640" y="2322576"/>
            <a:ext cx="3566160" cy="475488"/>
          </a:xfrm>
          <a:prstGeom prst="rect">
            <a:avLst/>
          </a:prstGeom>
          <a:noFill/>
          <a:ln/>
        </p:spPr>
        <p:txBody>
          <a:bodyPr wrap="square" rtlCol="0" anchor="ctr"/>
          <a:lstStyle/>
          <a:p>
            <a:pPr marL="0" indent="0" algn="l">
              <a:buNone/>
            </a:pPr>
            <a:r>
              <a:rPr lang="en-US" sz="1250">
                <a:solidFill>
                  <a:srgbClr val="E8F0FF"/>
                </a:solidFill>
                <a:latin typeface="Calibri" pitchFamily="34" charset="0"/>
                <a:ea typeface="Calibri" pitchFamily="34" charset="-122"/>
                <a:cs typeface="Calibri" pitchFamily="34" charset="-120"/>
              </a:rPr>
              <a:t>TSL2561 lux used as reference target for training</a:t>
            </a:r>
            <a:endParaRPr lang="en-US" sz="1250"/>
          </a:p>
        </p:txBody>
      </p:sp>
      <p:sp>
        <p:nvSpPr>
          <p:cNvPr id="16" name="Shape 13"/>
          <p:cNvSpPr/>
          <p:nvPr/>
        </p:nvSpPr>
        <p:spPr>
          <a:xfrm>
            <a:off x="182880" y="2990088"/>
            <a:ext cx="1371600" cy="384048"/>
          </a:xfrm>
          <a:prstGeom prst="rect">
            <a:avLst/>
          </a:prstGeom>
          <a:solidFill>
            <a:srgbClr val="005F73"/>
          </a:solidFill>
          <a:ln w="10160">
            <a:solidFill>
              <a:srgbClr val="00B4D8"/>
            </a:solidFill>
            <a:prstDash val="solid"/>
          </a:ln>
        </p:spPr>
      </p:sp>
      <p:sp>
        <p:nvSpPr>
          <p:cNvPr id="17" name="Text 14"/>
          <p:cNvSpPr/>
          <p:nvPr/>
        </p:nvSpPr>
        <p:spPr>
          <a:xfrm>
            <a:off x="182880" y="2990088"/>
            <a:ext cx="1371600" cy="384048"/>
          </a:xfrm>
          <a:prstGeom prst="rect">
            <a:avLst/>
          </a:prstGeom>
          <a:noFill/>
          <a:ln/>
        </p:spPr>
        <p:txBody>
          <a:bodyPr wrap="square" rtlCol="0" anchor="ctr"/>
          <a:lstStyle/>
          <a:p>
            <a:pPr marL="0" indent="0" algn="ctr">
              <a:buNone/>
            </a:pPr>
            <a:r>
              <a:rPr lang="en-US" sz="1000" b="1">
                <a:solidFill>
                  <a:srgbClr val="00B4D8"/>
                </a:solidFill>
                <a:latin typeface="Calibri" pitchFamily="34" charset="0"/>
                <a:ea typeface="Calibri" pitchFamily="34" charset="-122"/>
                <a:cs typeface="Calibri" pitchFamily="34" charset="-120"/>
              </a:rPr>
              <a:t>Validation</a:t>
            </a:r>
            <a:endParaRPr lang="en-US" sz="1000"/>
          </a:p>
        </p:txBody>
      </p:sp>
      <p:sp>
        <p:nvSpPr>
          <p:cNvPr id="18" name="Text 15"/>
          <p:cNvSpPr/>
          <p:nvPr/>
        </p:nvSpPr>
        <p:spPr>
          <a:xfrm>
            <a:off x="1691640" y="2990088"/>
            <a:ext cx="3566160" cy="475488"/>
          </a:xfrm>
          <a:prstGeom prst="rect">
            <a:avLst/>
          </a:prstGeom>
          <a:noFill/>
          <a:ln/>
        </p:spPr>
        <p:txBody>
          <a:bodyPr wrap="square" rtlCol="0" anchor="ctr"/>
          <a:lstStyle/>
          <a:p>
            <a:pPr marL="0" indent="0" algn="l">
              <a:buNone/>
            </a:pPr>
            <a:r>
              <a:rPr lang="en-US" sz="1250">
                <a:solidFill>
                  <a:srgbClr val="E8F0FF"/>
                </a:solidFill>
                <a:latin typeface="Calibri" pitchFamily="34" charset="0"/>
                <a:ea typeface="Calibri" pitchFamily="34" charset="-122"/>
                <a:cs typeface="Calibri" pitchFamily="34" charset="-120"/>
              </a:rPr>
              <a:t>BH1750 used for cross-comparison and validation</a:t>
            </a:r>
            <a:endParaRPr lang="en-US" sz="1250"/>
          </a:p>
        </p:txBody>
      </p:sp>
      <p:sp>
        <p:nvSpPr>
          <p:cNvPr id="19" name="Shape 16"/>
          <p:cNvSpPr/>
          <p:nvPr/>
        </p:nvSpPr>
        <p:spPr>
          <a:xfrm>
            <a:off x="182880" y="3657600"/>
            <a:ext cx="1371600" cy="384048"/>
          </a:xfrm>
          <a:prstGeom prst="rect">
            <a:avLst/>
          </a:prstGeom>
          <a:solidFill>
            <a:srgbClr val="005F73"/>
          </a:solidFill>
          <a:ln w="10160">
            <a:solidFill>
              <a:srgbClr val="00B4D8"/>
            </a:solidFill>
            <a:prstDash val="solid"/>
          </a:ln>
        </p:spPr>
      </p:sp>
      <p:sp>
        <p:nvSpPr>
          <p:cNvPr id="20" name="Text 17"/>
          <p:cNvSpPr/>
          <p:nvPr/>
        </p:nvSpPr>
        <p:spPr>
          <a:xfrm>
            <a:off x="182880" y="3657600"/>
            <a:ext cx="1371600" cy="384048"/>
          </a:xfrm>
          <a:prstGeom prst="rect">
            <a:avLst/>
          </a:prstGeom>
          <a:noFill/>
          <a:ln/>
        </p:spPr>
        <p:txBody>
          <a:bodyPr wrap="square" rtlCol="0" anchor="ctr"/>
          <a:lstStyle/>
          <a:p>
            <a:pPr marL="0" indent="0" algn="ctr">
              <a:buNone/>
            </a:pPr>
            <a:r>
              <a:rPr lang="en-US" sz="1000" b="1">
                <a:solidFill>
                  <a:srgbClr val="00B4D8"/>
                </a:solidFill>
                <a:latin typeface="Calibri" pitchFamily="34" charset="0"/>
                <a:ea typeface="Calibri" pitchFamily="34" charset="-122"/>
                <a:cs typeface="Calibri" pitchFamily="34" charset="-120"/>
              </a:rPr>
              <a:t>Model</a:t>
            </a:r>
            <a:endParaRPr lang="en-US" sz="1000"/>
          </a:p>
        </p:txBody>
      </p:sp>
      <p:sp>
        <p:nvSpPr>
          <p:cNvPr id="21" name="Text 18"/>
          <p:cNvSpPr/>
          <p:nvPr/>
        </p:nvSpPr>
        <p:spPr>
          <a:xfrm>
            <a:off x="1691640" y="3657600"/>
            <a:ext cx="3566160" cy="475488"/>
          </a:xfrm>
          <a:prstGeom prst="rect">
            <a:avLst/>
          </a:prstGeom>
          <a:noFill/>
          <a:ln/>
        </p:spPr>
        <p:txBody>
          <a:bodyPr wrap="square" rtlCol="0" anchor="ctr"/>
          <a:lstStyle/>
          <a:p>
            <a:pPr marL="0" indent="0" algn="l">
              <a:buNone/>
            </a:pPr>
            <a:r>
              <a:rPr lang="en-US" sz="1250">
                <a:solidFill>
                  <a:srgbClr val="E8F0FF"/>
                </a:solidFill>
                <a:latin typeface="Calibri" pitchFamily="34" charset="0"/>
                <a:ea typeface="Calibri" pitchFamily="34" charset="-122"/>
                <a:cs typeface="Calibri" pitchFamily="34" charset="-120"/>
              </a:rPr>
              <a:t>Regression model trained to predict calibrated lux from raw inputs</a:t>
            </a:r>
            <a:endParaRPr lang="en-US" sz="1250"/>
          </a:p>
        </p:txBody>
      </p:sp>
      <p:sp>
        <p:nvSpPr>
          <p:cNvPr id="22" name="Shape 19"/>
          <p:cNvSpPr/>
          <p:nvPr/>
        </p:nvSpPr>
        <p:spPr>
          <a:xfrm>
            <a:off x="5486400" y="960120"/>
            <a:ext cx="3429000" cy="292608"/>
          </a:xfrm>
          <a:prstGeom prst="rect">
            <a:avLst/>
          </a:prstGeom>
          <a:solidFill>
            <a:srgbClr val="005F73"/>
          </a:solidFill>
          <a:ln w="10160">
            <a:solidFill>
              <a:srgbClr val="00B4D8"/>
            </a:solidFill>
            <a:prstDash val="solid"/>
          </a:ln>
        </p:spPr>
      </p:sp>
      <p:sp>
        <p:nvSpPr>
          <p:cNvPr id="23" name="Text 20"/>
          <p:cNvSpPr/>
          <p:nvPr/>
        </p:nvSpPr>
        <p:spPr>
          <a:xfrm>
            <a:off x="5486400" y="960120"/>
            <a:ext cx="3429000" cy="292608"/>
          </a:xfrm>
          <a:prstGeom prst="rect">
            <a:avLst/>
          </a:prstGeom>
          <a:noFill/>
          <a:ln/>
        </p:spPr>
        <p:txBody>
          <a:bodyPr wrap="square" rtlCol="0" anchor="ctr"/>
          <a:lstStyle/>
          <a:p>
            <a:pPr marL="0" indent="0" algn="ctr">
              <a:buNone/>
            </a:pPr>
            <a:r>
              <a:rPr lang="en-US" sz="950" b="1">
                <a:solidFill>
                  <a:srgbClr val="00B4D8"/>
                </a:solidFill>
                <a:latin typeface="Calibri" pitchFamily="34" charset="0"/>
                <a:ea typeface="Calibri" pitchFamily="34" charset="-122"/>
                <a:cs typeface="Calibri" pitchFamily="34" charset="-120"/>
              </a:rPr>
              <a:t>Feature Importance — XGBoost Model</a:t>
            </a:r>
            <a:endParaRPr lang="en-US" sz="950"/>
          </a:p>
        </p:txBody>
      </p:sp>
      <p:pic>
        <p:nvPicPr>
          <p:cNvPr id="24" name="Image 1" descr="/mnt/user-data/uploads/1000094424.jpg"/>
          <p:cNvPicPr>
            <a:picLocks noChangeAspect="1"/>
          </p:cNvPicPr>
          <p:nvPr/>
        </p:nvPicPr>
        <p:blipFill>
          <a:blip r:embed="rId4"/>
          <a:stretch>
            <a:fillRect/>
          </a:stretch>
        </p:blipFill>
        <p:spPr>
          <a:xfrm>
            <a:off x="5486400" y="1252728"/>
            <a:ext cx="3429000" cy="35021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0F1A"/>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A1E35"/>
          </a:solidFill>
          <a:ln w="12700">
            <a:solidFill>
              <a:srgbClr val="0A1E35"/>
            </a:solidFill>
            <a:prstDash val="solid"/>
          </a:ln>
        </p:spPr>
      </p:sp>
      <p:sp>
        <p:nvSpPr>
          <p:cNvPr id="3" name="Shape 1"/>
          <p:cNvSpPr/>
          <p:nvPr/>
        </p:nvSpPr>
        <p:spPr>
          <a:xfrm>
            <a:off x="0" y="0"/>
            <a:ext cx="91440" cy="804672"/>
          </a:xfrm>
          <a:prstGeom prst="rect">
            <a:avLst/>
          </a:prstGeom>
          <a:solidFill>
            <a:srgbClr val="22C55E"/>
          </a:solidFill>
          <a:ln w="12700">
            <a:solidFill>
              <a:srgbClr val="22C55E"/>
            </a:solidFill>
            <a:prstDash val="solid"/>
          </a:ln>
        </p:spPr>
      </p:sp>
      <p:sp>
        <p:nvSpPr>
          <p:cNvPr id="4" name="Text 2"/>
          <p:cNvSpPr/>
          <p:nvPr/>
        </p:nvSpPr>
        <p:spPr>
          <a:xfrm>
            <a:off x="228600" y="0"/>
            <a:ext cx="8686800" cy="804672"/>
          </a:xfrm>
          <a:prstGeom prst="rect">
            <a:avLst/>
          </a:prstGeom>
          <a:noFill/>
          <a:ln/>
        </p:spPr>
        <p:txBody>
          <a:bodyPr wrap="square" rtlCol="0" anchor="ctr"/>
          <a:lstStyle/>
          <a:p>
            <a:pPr marL="0" indent="0" algn="l">
              <a:buNone/>
            </a:pPr>
            <a:r>
              <a:rPr lang="en-US" sz="2600" b="1">
                <a:solidFill>
                  <a:srgbClr val="FFFFFF"/>
                </a:solidFill>
                <a:latin typeface="Calibri" pitchFamily="34" charset="0"/>
                <a:ea typeface="Calibri" pitchFamily="34" charset="-122"/>
                <a:cs typeface="Calibri" pitchFamily="34" charset="-120"/>
              </a:rPr>
              <a:t>Results  and  Performance</a:t>
            </a:r>
            <a:endParaRPr lang="en-US" sz="2600"/>
          </a:p>
        </p:txBody>
      </p:sp>
      <p:sp>
        <p:nvSpPr>
          <p:cNvPr id="5" name="Shape 3"/>
          <p:cNvSpPr/>
          <p:nvPr/>
        </p:nvSpPr>
        <p:spPr>
          <a:xfrm>
            <a:off x="0" y="804672"/>
            <a:ext cx="91440" cy="4133088"/>
          </a:xfrm>
          <a:prstGeom prst="rect">
            <a:avLst/>
          </a:prstGeom>
          <a:solidFill>
            <a:srgbClr val="22C55E"/>
          </a:solidFill>
          <a:ln w="12700">
            <a:solidFill>
              <a:srgbClr val="22C55E"/>
            </a:solidFill>
            <a:prstDash val="solid"/>
          </a:ln>
        </p:spPr>
      </p:sp>
      <p:pic>
        <p:nvPicPr>
          <p:cNvPr id="6" name="Image 0" descr="preencoded.png"/>
          <p:cNvPicPr>
            <a:picLocks noChangeAspect="1"/>
          </p:cNvPicPr>
          <p:nvPr/>
        </p:nvPicPr>
        <p:blipFill>
          <a:blip r:embed="rId3"/>
          <a:stretch>
            <a:fillRect/>
          </a:stretch>
        </p:blipFill>
        <p:spPr>
          <a:xfrm>
            <a:off x="8183880" y="182880"/>
            <a:ext cx="457200" cy="457200"/>
          </a:xfrm>
          <a:prstGeom prst="rect">
            <a:avLst/>
          </a:prstGeom>
        </p:spPr>
      </p:pic>
      <p:sp>
        <p:nvSpPr>
          <p:cNvPr id="7" name="Shape 4"/>
          <p:cNvSpPr/>
          <p:nvPr/>
        </p:nvSpPr>
        <p:spPr>
          <a:xfrm>
            <a:off x="182880" y="1088136"/>
            <a:ext cx="128016" cy="128016"/>
          </a:xfrm>
          <a:prstGeom prst="ellipse">
            <a:avLst/>
          </a:prstGeom>
          <a:solidFill>
            <a:srgbClr val="22C55E"/>
          </a:solidFill>
          <a:ln w="12700">
            <a:solidFill>
              <a:srgbClr val="22C55E"/>
            </a:solidFill>
            <a:prstDash val="solid"/>
          </a:ln>
        </p:spPr>
      </p:sp>
      <p:sp>
        <p:nvSpPr>
          <p:cNvPr id="8" name="Text 5"/>
          <p:cNvSpPr/>
          <p:nvPr/>
        </p:nvSpPr>
        <p:spPr>
          <a:xfrm>
            <a:off x="402336" y="969264"/>
            <a:ext cx="4846320" cy="365760"/>
          </a:xfrm>
          <a:prstGeom prst="rect">
            <a:avLst/>
          </a:prstGeom>
          <a:noFill/>
          <a:ln/>
        </p:spPr>
        <p:txBody>
          <a:bodyPr wrap="square" rtlCol="0" anchor="ctr"/>
          <a:lstStyle/>
          <a:p>
            <a:pPr marL="0" indent="0" algn="l">
              <a:buNone/>
            </a:pPr>
            <a:r>
              <a:rPr lang="en-US" sz="1250">
                <a:solidFill>
                  <a:srgbClr val="E8F0FF"/>
                </a:solidFill>
                <a:latin typeface="Calibri" pitchFamily="34" charset="0"/>
                <a:ea typeface="Calibri" pitchFamily="34" charset="-122"/>
                <a:cs typeface="Calibri" pitchFamily="34" charset="-120"/>
              </a:rPr>
              <a:t>Real-time sensor values displayed on OLED successfully</a:t>
            </a:r>
            <a:endParaRPr lang="en-US" sz="1250"/>
          </a:p>
        </p:txBody>
      </p:sp>
      <p:sp>
        <p:nvSpPr>
          <p:cNvPr id="9" name="Shape 6"/>
          <p:cNvSpPr/>
          <p:nvPr/>
        </p:nvSpPr>
        <p:spPr>
          <a:xfrm>
            <a:off x="182880" y="1472184"/>
            <a:ext cx="128016" cy="128016"/>
          </a:xfrm>
          <a:prstGeom prst="ellipse">
            <a:avLst/>
          </a:prstGeom>
          <a:solidFill>
            <a:srgbClr val="22C55E"/>
          </a:solidFill>
          <a:ln w="12700">
            <a:solidFill>
              <a:srgbClr val="22C55E"/>
            </a:solidFill>
            <a:prstDash val="solid"/>
          </a:ln>
        </p:spPr>
      </p:sp>
      <p:sp>
        <p:nvSpPr>
          <p:cNvPr id="10" name="Text 7"/>
          <p:cNvSpPr/>
          <p:nvPr/>
        </p:nvSpPr>
        <p:spPr>
          <a:xfrm>
            <a:off x="402336" y="1353312"/>
            <a:ext cx="4846320" cy="365760"/>
          </a:xfrm>
          <a:prstGeom prst="rect">
            <a:avLst/>
          </a:prstGeom>
          <a:noFill/>
          <a:ln/>
        </p:spPr>
        <p:txBody>
          <a:bodyPr wrap="square" rtlCol="0" anchor="ctr"/>
          <a:lstStyle/>
          <a:p>
            <a:pPr marL="0" indent="0" algn="l">
              <a:buNone/>
            </a:pPr>
            <a:r>
              <a:rPr lang="en-US" sz="1250">
                <a:solidFill>
                  <a:srgbClr val="E8F0FF"/>
                </a:solidFill>
                <a:latin typeface="Calibri" pitchFamily="34" charset="0"/>
                <a:ea typeface="Calibri" pitchFamily="34" charset="-122"/>
                <a:cs typeface="Calibri" pitchFamily="34" charset="-120"/>
              </a:rPr>
              <a:t>Calibrated lux predicted accurately from raw sensor input</a:t>
            </a:r>
            <a:endParaRPr lang="en-US" sz="1250"/>
          </a:p>
        </p:txBody>
      </p:sp>
      <p:sp>
        <p:nvSpPr>
          <p:cNvPr id="11" name="Shape 8"/>
          <p:cNvSpPr/>
          <p:nvPr/>
        </p:nvSpPr>
        <p:spPr>
          <a:xfrm>
            <a:off x="182880" y="1856232"/>
            <a:ext cx="128016" cy="128016"/>
          </a:xfrm>
          <a:prstGeom prst="ellipse">
            <a:avLst/>
          </a:prstGeom>
          <a:solidFill>
            <a:srgbClr val="22C55E"/>
          </a:solidFill>
          <a:ln w="12700">
            <a:solidFill>
              <a:srgbClr val="22C55E"/>
            </a:solidFill>
            <a:prstDash val="solid"/>
          </a:ln>
        </p:spPr>
      </p:sp>
      <p:sp>
        <p:nvSpPr>
          <p:cNvPr id="12" name="Text 9"/>
          <p:cNvSpPr/>
          <p:nvPr/>
        </p:nvSpPr>
        <p:spPr>
          <a:xfrm>
            <a:off x="402336" y="1737360"/>
            <a:ext cx="4846320" cy="365760"/>
          </a:xfrm>
          <a:prstGeom prst="rect">
            <a:avLst/>
          </a:prstGeom>
          <a:noFill/>
          <a:ln/>
        </p:spPr>
        <p:txBody>
          <a:bodyPr wrap="square" rtlCol="0" anchor="ctr"/>
          <a:lstStyle/>
          <a:p>
            <a:pPr marL="0" indent="0" algn="l">
              <a:buNone/>
            </a:pPr>
            <a:r>
              <a:rPr lang="en-US" sz="1250">
                <a:solidFill>
                  <a:srgbClr val="E8F0FF"/>
                </a:solidFill>
                <a:latin typeface="Calibri" pitchFamily="34" charset="0"/>
                <a:ea typeface="Calibri" pitchFamily="34" charset="-122"/>
                <a:cs typeface="Calibri" pitchFamily="34" charset="-120"/>
              </a:rPr>
              <a:t>LED turns ON in low light, OFF when brightness is sufficient</a:t>
            </a:r>
            <a:endParaRPr lang="en-US" sz="1250"/>
          </a:p>
        </p:txBody>
      </p:sp>
      <p:sp>
        <p:nvSpPr>
          <p:cNvPr id="13" name="Shape 10"/>
          <p:cNvSpPr/>
          <p:nvPr/>
        </p:nvSpPr>
        <p:spPr>
          <a:xfrm>
            <a:off x="182880" y="2240280"/>
            <a:ext cx="128016" cy="128016"/>
          </a:xfrm>
          <a:prstGeom prst="ellipse">
            <a:avLst/>
          </a:prstGeom>
          <a:solidFill>
            <a:srgbClr val="22C55E"/>
          </a:solidFill>
          <a:ln w="12700">
            <a:solidFill>
              <a:srgbClr val="22C55E"/>
            </a:solidFill>
            <a:prstDash val="solid"/>
          </a:ln>
        </p:spPr>
      </p:sp>
      <p:sp>
        <p:nvSpPr>
          <p:cNvPr id="14" name="Text 11"/>
          <p:cNvSpPr/>
          <p:nvPr/>
        </p:nvSpPr>
        <p:spPr>
          <a:xfrm>
            <a:off x="402336" y="2121408"/>
            <a:ext cx="4846320" cy="365760"/>
          </a:xfrm>
          <a:prstGeom prst="rect">
            <a:avLst/>
          </a:prstGeom>
          <a:noFill/>
          <a:ln/>
        </p:spPr>
        <p:txBody>
          <a:bodyPr wrap="square" rtlCol="0" anchor="ctr"/>
          <a:lstStyle/>
          <a:p>
            <a:pPr marL="0" indent="0" algn="l">
              <a:buNone/>
            </a:pPr>
            <a:r>
              <a:rPr lang="en-US" sz="1250">
                <a:solidFill>
                  <a:srgbClr val="E8F0FF"/>
                </a:solidFill>
                <a:latin typeface="Calibri" pitchFamily="34" charset="0"/>
                <a:ea typeface="Calibri" pitchFamily="34" charset="-122"/>
                <a:cs typeface="Calibri" pitchFamily="34" charset="-120"/>
              </a:rPr>
              <a:t>Improved reliability compared to direct raw LDR control</a:t>
            </a:r>
            <a:endParaRPr lang="en-US" sz="1250"/>
          </a:p>
        </p:txBody>
      </p:sp>
      <p:sp>
        <p:nvSpPr>
          <p:cNvPr id="15" name="Shape 12"/>
          <p:cNvSpPr/>
          <p:nvPr/>
        </p:nvSpPr>
        <p:spPr>
          <a:xfrm>
            <a:off x="182880" y="2624328"/>
            <a:ext cx="128016" cy="128016"/>
          </a:xfrm>
          <a:prstGeom prst="ellipse">
            <a:avLst/>
          </a:prstGeom>
          <a:solidFill>
            <a:srgbClr val="22C55E"/>
          </a:solidFill>
          <a:ln w="12700">
            <a:solidFill>
              <a:srgbClr val="22C55E"/>
            </a:solidFill>
            <a:prstDash val="solid"/>
          </a:ln>
        </p:spPr>
      </p:sp>
      <p:sp>
        <p:nvSpPr>
          <p:cNvPr id="16" name="Text 13"/>
          <p:cNvSpPr/>
          <p:nvPr/>
        </p:nvSpPr>
        <p:spPr>
          <a:xfrm>
            <a:off x="402336" y="2505456"/>
            <a:ext cx="4846320" cy="365760"/>
          </a:xfrm>
          <a:prstGeom prst="rect">
            <a:avLst/>
          </a:prstGeom>
          <a:noFill/>
          <a:ln/>
        </p:spPr>
        <p:txBody>
          <a:bodyPr wrap="square" rtlCol="0" anchor="ctr"/>
          <a:lstStyle/>
          <a:p>
            <a:pPr marL="0" indent="0" algn="l">
              <a:buNone/>
            </a:pPr>
            <a:r>
              <a:rPr lang="en-US" sz="1250">
                <a:solidFill>
                  <a:srgbClr val="E8F0FF"/>
                </a:solidFill>
                <a:latin typeface="Calibri" pitchFamily="34" charset="0"/>
                <a:ea typeface="Calibri" pitchFamily="34" charset="-122"/>
                <a:cs typeface="Calibri" pitchFamily="34" charset="-120"/>
              </a:rPr>
              <a:t>Prototype tested and validated in indoor smart home setup</a:t>
            </a:r>
            <a:endParaRPr lang="en-US" sz="1250"/>
          </a:p>
        </p:txBody>
      </p:sp>
      <p:sp>
        <p:nvSpPr>
          <p:cNvPr id="17" name="Shape 14"/>
          <p:cNvSpPr/>
          <p:nvPr/>
        </p:nvSpPr>
        <p:spPr>
          <a:xfrm>
            <a:off x="182880" y="3017520"/>
            <a:ext cx="1417320" cy="566928"/>
          </a:xfrm>
          <a:prstGeom prst="rect">
            <a:avLst/>
          </a:prstGeom>
          <a:solidFill>
            <a:srgbClr val="0D2647"/>
          </a:solidFill>
          <a:ln w="10160">
            <a:solidFill>
              <a:srgbClr val="22C55E"/>
            </a:solidFill>
            <a:prstDash val="solid"/>
          </a:ln>
        </p:spPr>
      </p:sp>
      <p:sp>
        <p:nvSpPr>
          <p:cNvPr id="18" name="Text 15"/>
          <p:cNvSpPr/>
          <p:nvPr/>
        </p:nvSpPr>
        <p:spPr>
          <a:xfrm>
            <a:off x="182880" y="3017520"/>
            <a:ext cx="1417320" cy="338328"/>
          </a:xfrm>
          <a:prstGeom prst="rect">
            <a:avLst/>
          </a:prstGeom>
          <a:noFill/>
          <a:ln/>
        </p:spPr>
        <p:txBody>
          <a:bodyPr wrap="square" rtlCol="0" anchor="ctr"/>
          <a:lstStyle/>
          <a:p>
            <a:pPr marL="0" indent="0" algn="ctr">
              <a:buNone/>
            </a:pPr>
            <a:r>
              <a:rPr lang="en-US" sz="1600" b="1">
                <a:solidFill>
                  <a:srgbClr val="22C55E"/>
                </a:solidFill>
                <a:latin typeface="Calibri" pitchFamily="34" charset="0"/>
                <a:ea typeface="Calibri" pitchFamily="34" charset="-122"/>
                <a:cs typeface="Calibri" pitchFamily="34" charset="-120"/>
              </a:rPr>
              <a:t>4</a:t>
            </a:r>
            <a:endParaRPr lang="en-US" sz="1600"/>
          </a:p>
        </p:txBody>
      </p:sp>
      <p:sp>
        <p:nvSpPr>
          <p:cNvPr id="19" name="Text 16"/>
          <p:cNvSpPr/>
          <p:nvPr/>
        </p:nvSpPr>
        <p:spPr>
          <a:xfrm>
            <a:off x="182880" y="3337560"/>
            <a:ext cx="1417320" cy="246888"/>
          </a:xfrm>
          <a:prstGeom prst="rect">
            <a:avLst/>
          </a:prstGeom>
          <a:noFill/>
          <a:ln/>
        </p:spPr>
        <p:txBody>
          <a:bodyPr wrap="square" rtlCol="0" anchor="ctr"/>
          <a:lstStyle/>
          <a:p>
            <a:pPr marL="0" indent="0" algn="ctr">
              <a:buNone/>
            </a:pPr>
            <a:r>
              <a:rPr lang="en-US" sz="850">
                <a:solidFill>
                  <a:srgbClr val="7E93B5"/>
                </a:solidFill>
                <a:latin typeface="Calibri" pitchFamily="34" charset="0"/>
                <a:ea typeface="Calibri" pitchFamily="34" charset="-122"/>
                <a:cs typeface="Calibri" pitchFamily="34" charset="-120"/>
              </a:rPr>
              <a:t>Sensors</a:t>
            </a:r>
            <a:endParaRPr lang="en-US" sz="850"/>
          </a:p>
        </p:txBody>
      </p:sp>
      <p:sp>
        <p:nvSpPr>
          <p:cNvPr id="20" name="Shape 17"/>
          <p:cNvSpPr/>
          <p:nvPr/>
        </p:nvSpPr>
        <p:spPr>
          <a:xfrm>
            <a:off x="1828800" y="3017520"/>
            <a:ext cx="1417320" cy="566928"/>
          </a:xfrm>
          <a:prstGeom prst="rect">
            <a:avLst/>
          </a:prstGeom>
          <a:solidFill>
            <a:srgbClr val="0D2647"/>
          </a:solidFill>
          <a:ln w="10160">
            <a:solidFill>
              <a:srgbClr val="22C55E"/>
            </a:solidFill>
            <a:prstDash val="solid"/>
          </a:ln>
        </p:spPr>
      </p:sp>
      <p:sp>
        <p:nvSpPr>
          <p:cNvPr id="21" name="Text 18"/>
          <p:cNvSpPr/>
          <p:nvPr/>
        </p:nvSpPr>
        <p:spPr>
          <a:xfrm>
            <a:off x="1828800" y="3017520"/>
            <a:ext cx="1417320" cy="338328"/>
          </a:xfrm>
          <a:prstGeom prst="rect">
            <a:avLst/>
          </a:prstGeom>
          <a:noFill/>
          <a:ln/>
        </p:spPr>
        <p:txBody>
          <a:bodyPr wrap="square" rtlCol="0" anchor="ctr"/>
          <a:lstStyle/>
          <a:p>
            <a:pPr marL="0" indent="0" algn="ctr">
              <a:buNone/>
            </a:pPr>
            <a:r>
              <a:rPr lang="en-US" sz="1600" b="1">
                <a:solidFill>
                  <a:srgbClr val="22C55E"/>
                </a:solidFill>
                <a:latin typeface="Calibri" pitchFamily="34" charset="0"/>
                <a:ea typeface="Calibri" pitchFamily="34" charset="-122"/>
                <a:cs typeface="Calibri" pitchFamily="34" charset="-120"/>
              </a:rPr>
              <a:t>XGB</a:t>
            </a:r>
            <a:endParaRPr lang="en-US" sz="1600"/>
          </a:p>
        </p:txBody>
      </p:sp>
      <p:sp>
        <p:nvSpPr>
          <p:cNvPr id="22" name="Text 19"/>
          <p:cNvSpPr/>
          <p:nvPr/>
        </p:nvSpPr>
        <p:spPr>
          <a:xfrm>
            <a:off x="1828800" y="3337560"/>
            <a:ext cx="1417320" cy="246888"/>
          </a:xfrm>
          <a:prstGeom prst="rect">
            <a:avLst/>
          </a:prstGeom>
          <a:noFill/>
          <a:ln/>
        </p:spPr>
        <p:txBody>
          <a:bodyPr wrap="square" rtlCol="0" anchor="ctr"/>
          <a:lstStyle/>
          <a:p>
            <a:pPr marL="0" indent="0" algn="ctr">
              <a:buNone/>
            </a:pPr>
            <a:r>
              <a:rPr lang="en-US" sz="850">
                <a:solidFill>
                  <a:srgbClr val="7E93B5"/>
                </a:solidFill>
                <a:latin typeface="Calibri" pitchFamily="34" charset="0"/>
                <a:ea typeface="Calibri" pitchFamily="34" charset="-122"/>
                <a:cs typeface="Calibri" pitchFamily="34" charset="-120"/>
              </a:rPr>
              <a:t>ML Model</a:t>
            </a:r>
            <a:endParaRPr lang="en-US" sz="850"/>
          </a:p>
        </p:txBody>
      </p:sp>
      <p:sp>
        <p:nvSpPr>
          <p:cNvPr id="23" name="Shape 20"/>
          <p:cNvSpPr/>
          <p:nvPr/>
        </p:nvSpPr>
        <p:spPr>
          <a:xfrm>
            <a:off x="3474720" y="3017520"/>
            <a:ext cx="1417320" cy="566928"/>
          </a:xfrm>
          <a:prstGeom prst="rect">
            <a:avLst/>
          </a:prstGeom>
          <a:solidFill>
            <a:srgbClr val="0D2647"/>
          </a:solidFill>
          <a:ln w="10160">
            <a:solidFill>
              <a:srgbClr val="22C55E"/>
            </a:solidFill>
            <a:prstDash val="solid"/>
          </a:ln>
        </p:spPr>
      </p:sp>
      <p:sp>
        <p:nvSpPr>
          <p:cNvPr id="24" name="Text 21"/>
          <p:cNvSpPr/>
          <p:nvPr/>
        </p:nvSpPr>
        <p:spPr>
          <a:xfrm>
            <a:off x="3474720" y="3017520"/>
            <a:ext cx="1417320" cy="338328"/>
          </a:xfrm>
          <a:prstGeom prst="rect">
            <a:avLst/>
          </a:prstGeom>
          <a:noFill/>
          <a:ln/>
        </p:spPr>
        <p:txBody>
          <a:bodyPr wrap="square" rtlCol="0" anchor="ctr"/>
          <a:lstStyle/>
          <a:p>
            <a:pPr marL="0" indent="0" algn="ctr">
              <a:buNone/>
            </a:pPr>
            <a:r>
              <a:rPr lang="en-US" sz="1600" b="1">
                <a:solidFill>
                  <a:srgbClr val="22C55E"/>
                </a:solidFill>
                <a:latin typeface="Calibri" pitchFamily="34" charset="0"/>
                <a:ea typeface="Calibri" pitchFamily="34" charset="-122"/>
                <a:cs typeface="Calibri" pitchFamily="34" charset="-120"/>
              </a:rPr>
              <a:t>RT</a:t>
            </a:r>
            <a:endParaRPr lang="en-US" sz="1600"/>
          </a:p>
        </p:txBody>
      </p:sp>
      <p:sp>
        <p:nvSpPr>
          <p:cNvPr id="25" name="Text 22"/>
          <p:cNvSpPr/>
          <p:nvPr/>
        </p:nvSpPr>
        <p:spPr>
          <a:xfrm>
            <a:off x="3474720" y="3337560"/>
            <a:ext cx="1417320" cy="246888"/>
          </a:xfrm>
          <a:prstGeom prst="rect">
            <a:avLst/>
          </a:prstGeom>
          <a:noFill/>
          <a:ln/>
        </p:spPr>
        <p:txBody>
          <a:bodyPr wrap="square" rtlCol="0" anchor="ctr"/>
          <a:lstStyle/>
          <a:p>
            <a:pPr marL="0" indent="0" algn="ctr">
              <a:buNone/>
            </a:pPr>
            <a:r>
              <a:rPr lang="en-US" sz="850">
                <a:solidFill>
                  <a:srgbClr val="7E93B5"/>
                </a:solidFill>
                <a:latin typeface="Calibri" pitchFamily="34" charset="0"/>
                <a:ea typeface="Calibri" pitchFamily="34" charset="-122"/>
                <a:cs typeface="Calibri" pitchFamily="34" charset="-120"/>
              </a:rPr>
              <a:t>Prediction</a:t>
            </a:r>
            <a:endParaRPr lang="en-US" sz="850"/>
          </a:p>
        </p:txBody>
      </p:sp>
      <p:sp>
        <p:nvSpPr>
          <p:cNvPr id="26" name="Shape 23"/>
          <p:cNvSpPr/>
          <p:nvPr/>
        </p:nvSpPr>
        <p:spPr>
          <a:xfrm>
            <a:off x="5349240" y="969264"/>
            <a:ext cx="1828800" cy="274320"/>
          </a:xfrm>
          <a:prstGeom prst="rect">
            <a:avLst/>
          </a:prstGeom>
          <a:solidFill>
            <a:srgbClr val="0A3E22"/>
          </a:solidFill>
          <a:ln w="10160">
            <a:solidFill>
              <a:srgbClr val="22C55E"/>
            </a:solidFill>
            <a:prstDash val="solid"/>
          </a:ln>
        </p:spPr>
      </p:sp>
      <p:sp>
        <p:nvSpPr>
          <p:cNvPr id="27" name="Text 24"/>
          <p:cNvSpPr/>
          <p:nvPr/>
        </p:nvSpPr>
        <p:spPr>
          <a:xfrm>
            <a:off x="5349240" y="969264"/>
            <a:ext cx="1828800" cy="274320"/>
          </a:xfrm>
          <a:prstGeom prst="rect">
            <a:avLst/>
          </a:prstGeom>
          <a:noFill/>
          <a:ln/>
        </p:spPr>
        <p:txBody>
          <a:bodyPr wrap="square" rtlCol="0" anchor="ctr"/>
          <a:lstStyle/>
          <a:p>
            <a:pPr marL="0" indent="0" algn="ctr">
              <a:buNone/>
            </a:pPr>
            <a:r>
              <a:rPr lang="en-US" sz="850" b="1">
                <a:solidFill>
                  <a:srgbClr val="22C55E"/>
                </a:solidFill>
                <a:latin typeface="Calibri" pitchFamily="34" charset="0"/>
                <a:ea typeface="Calibri" pitchFamily="34" charset="-122"/>
                <a:cs typeface="Calibri" pitchFamily="34" charset="-120"/>
              </a:rPr>
              <a:t>Predicted vs Reference (TSL2561)</a:t>
            </a:r>
            <a:endParaRPr lang="en-US" sz="850"/>
          </a:p>
        </p:txBody>
      </p:sp>
      <p:pic>
        <p:nvPicPr>
          <p:cNvPr id="28" name="Image 1" descr="/mnt/user-data/uploads/1000094422.jpg"/>
          <p:cNvPicPr>
            <a:picLocks noChangeAspect="1"/>
          </p:cNvPicPr>
          <p:nvPr/>
        </p:nvPicPr>
        <p:blipFill>
          <a:blip r:embed="rId4"/>
          <a:stretch>
            <a:fillRect/>
          </a:stretch>
        </p:blipFill>
        <p:spPr>
          <a:xfrm>
            <a:off x="5349240" y="1243584"/>
            <a:ext cx="1828800" cy="3493008"/>
          </a:xfrm>
          <a:prstGeom prst="rect">
            <a:avLst/>
          </a:prstGeom>
        </p:spPr>
      </p:pic>
      <p:sp>
        <p:nvSpPr>
          <p:cNvPr id="29" name="Shape 25"/>
          <p:cNvSpPr/>
          <p:nvPr/>
        </p:nvSpPr>
        <p:spPr>
          <a:xfrm>
            <a:off x="7269480" y="969264"/>
            <a:ext cx="1645920" cy="274320"/>
          </a:xfrm>
          <a:prstGeom prst="rect">
            <a:avLst/>
          </a:prstGeom>
          <a:solidFill>
            <a:srgbClr val="0A3E22"/>
          </a:solidFill>
          <a:ln w="10160">
            <a:solidFill>
              <a:srgbClr val="22C55E"/>
            </a:solidFill>
            <a:prstDash val="solid"/>
          </a:ln>
        </p:spPr>
      </p:sp>
      <p:sp>
        <p:nvSpPr>
          <p:cNvPr id="30" name="Text 26"/>
          <p:cNvSpPr/>
          <p:nvPr/>
        </p:nvSpPr>
        <p:spPr>
          <a:xfrm>
            <a:off x="7269480" y="969264"/>
            <a:ext cx="1645920" cy="274320"/>
          </a:xfrm>
          <a:prstGeom prst="rect">
            <a:avLst/>
          </a:prstGeom>
          <a:noFill/>
          <a:ln/>
        </p:spPr>
        <p:txBody>
          <a:bodyPr wrap="square" rtlCol="0" anchor="ctr"/>
          <a:lstStyle/>
          <a:p>
            <a:pPr marL="0" indent="0" algn="ctr">
              <a:buNone/>
            </a:pPr>
            <a:r>
              <a:rPr lang="en-US" sz="850" b="1">
                <a:solidFill>
                  <a:srgbClr val="22C55E"/>
                </a:solidFill>
                <a:latin typeface="Calibri" pitchFamily="34" charset="0"/>
                <a:ea typeface="Calibri" pitchFamily="34" charset="-122"/>
                <a:cs typeface="Calibri" pitchFamily="34" charset="-120"/>
              </a:rPr>
              <a:t>Validation vs BH1750</a:t>
            </a:r>
            <a:endParaRPr lang="en-US" sz="850"/>
          </a:p>
        </p:txBody>
      </p:sp>
      <p:pic>
        <p:nvPicPr>
          <p:cNvPr id="31" name="Image 2" descr="/mnt/user-data/uploads/1000094428.jpg"/>
          <p:cNvPicPr>
            <a:picLocks noChangeAspect="1"/>
          </p:cNvPicPr>
          <p:nvPr/>
        </p:nvPicPr>
        <p:blipFill>
          <a:blip r:embed="rId5"/>
          <a:stretch>
            <a:fillRect/>
          </a:stretch>
        </p:blipFill>
        <p:spPr>
          <a:xfrm>
            <a:off x="7269480" y="1243584"/>
            <a:ext cx="1645920" cy="3493008"/>
          </a:xfrm>
          <a:prstGeom prst="rect">
            <a:avLst/>
          </a:prstGeom>
        </p:spPr>
      </p:pic>
      <p:sp>
        <p:nvSpPr>
          <p:cNvPr id="32" name="Shape 27"/>
          <p:cNvSpPr/>
          <p:nvPr/>
        </p:nvSpPr>
        <p:spPr>
          <a:xfrm>
            <a:off x="0" y="4937760"/>
            <a:ext cx="9144000" cy="205740"/>
          </a:xfrm>
          <a:prstGeom prst="rect">
            <a:avLst/>
          </a:prstGeom>
          <a:solidFill>
            <a:srgbClr val="060F1C"/>
          </a:solidFill>
          <a:ln w="12700">
            <a:solidFill>
              <a:srgbClr val="060F1C"/>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40D1A"/>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A1E35"/>
          </a:solidFill>
          <a:ln w="12700">
            <a:solidFill>
              <a:srgbClr val="0A1E35"/>
            </a:solidFill>
            <a:prstDash val="solid"/>
          </a:ln>
        </p:spPr>
      </p:sp>
      <p:sp>
        <p:nvSpPr>
          <p:cNvPr id="3" name="Shape 1"/>
          <p:cNvSpPr/>
          <p:nvPr/>
        </p:nvSpPr>
        <p:spPr>
          <a:xfrm>
            <a:off x="0" y="0"/>
            <a:ext cx="91440" cy="804672"/>
          </a:xfrm>
          <a:prstGeom prst="rect">
            <a:avLst/>
          </a:prstGeom>
          <a:solidFill>
            <a:srgbClr val="F5A623"/>
          </a:solidFill>
          <a:ln w="12700">
            <a:solidFill>
              <a:srgbClr val="F5A623"/>
            </a:solidFill>
            <a:prstDash val="solid"/>
          </a:ln>
        </p:spPr>
      </p:sp>
      <p:sp>
        <p:nvSpPr>
          <p:cNvPr id="4" name="Text 2"/>
          <p:cNvSpPr/>
          <p:nvPr/>
        </p:nvSpPr>
        <p:spPr>
          <a:xfrm>
            <a:off x="228600" y="0"/>
            <a:ext cx="8686800" cy="804672"/>
          </a:xfrm>
          <a:prstGeom prst="rect">
            <a:avLst/>
          </a:prstGeom>
          <a:noFill/>
          <a:ln/>
        </p:spPr>
        <p:txBody>
          <a:bodyPr wrap="square" rtlCol="0" anchor="ctr"/>
          <a:lstStyle/>
          <a:p>
            <a:pPr marL="0" indent="0" algn="l">
              <a:buNone/>
            </a:pPr>
            <a:r>
              <a:rPr lang="en-US" sz="2600" b="1">
                <a:solidFill>
                  <a:srgbClr val="FFFFFF"/>
                </a:solidFill>
                <a:latin typeface="Calibri" pitchFamily="34" charset="0"/>
                <a:ea typeface="Calibri" pitchFamily="34" charset="-122"/>
                <a:cs typeface="Calibri" pitchFamily="34" charset="-120"/>
              </a:rPr>
              <a:t>Comparison  /  Validation</a:t>
            </a:r>
            <a:endParaRPr lang="en-US" sz="2600"/>
          </a:p>
        </p:txBody>
      </p:sp>
      <p:sp>
        <p:nvSpPr>
          <p:cNvPr id="5" name="Shape 3"/>
          <p:cNvSpPr/>
          <p:nvPr/>
        </p:nvSpPr>
        <p:spPr>
          <a:xfrm>
            <a:off x="0" y="804672"/>
            <a:ext cx="91440" cy="4133088"/>
          </a:xfrm>
          <a:prstGeom prst="rect">
            <a:avLst/>
          </a:prstGeom>
          <a:solidFill>
            <a:srgbClr val="F5A623"/>
          </a:solidFill>
          <a:ln w="12700">
            <a:solidFill>
              <a:srgbClr val="F5A623"/>
            </a:solidFill>
            <a:prstDash val="solid"/>
          </a:ln>
        </p:spPr>
      </p:sp>
      <p:sp>
        <p:nvSpPr>
          <p:cNvPr id="6" name="Shape 4"/>
          <p:cNvSpPr/>
          <p:nvPr/>
        </p:nvSpPr>
        <p:spPr>
          <a:xfrm>
            <a:off x="182880" y="1060704"/>
            <a:ext cx="73152" cy="292608"/>
          </a:xfrm>
          <a:prstGeom prst="rect">
            <a:avLst/>
          </a:prstGeom>
          <a:solidFill>
            <a:srgbClr val="F5A623"/>
          </a:solidFill>
          <a:ln w="12700">
            <a:solidFill>
              <a:srgbClr val="F5A623"/>
            </a:solidFill>
            <a:prstDash val="solid"/>
          </a:ln>
        </p:spPr>
      </p:sp>
      <p:sp>
        <p:nvSpPr>
          <p:cNvPr id="7" name="Text 5"/>
          <p:cNvSpPr/>
          <p:nvPr/>
        </p:nvSpPr>
        <p:spPr>
          <a:xfrm>
            <a:off x="365760" y="987552"/>
            <a:ext cx="3931920" cy="475488"/>
          </a:xfrm>
          <a:prstGeom prst="rect">
            <a:avLst/>
          </a:prstGeom>
          <a:noFill/>
          <a:ln/>
        </p:spPr>
        <p:txBody>
          <a:bodyPr wrap="square" rtlCol="0" anchor="ctr"/>
          <a:lstStyle/>
          <a:p>
            <a:pPr marL="0" indent="0" algn="l">
              <a:buNone/>
            </a:pPr>
            <a:r>
              <a:rPr lang="en-US" sz="1300">
                <a:solidFill>
                  <a:srgbClr val="E8F0FF"/>
                </a:solidFill>
                <a:latin typeface="Calibri" pitchFamily="34" charset="0"/>
                <a:ea typeface="Calibri" pitchFamily="34" charset="-122"/>
                <a:cs typeface="Calibri" pitchFamily="34" charset="-120"/>
              </a:rPr>
              <a:t>Raw LDR is noisy and nonlinear</a:t>
            </a:r>
            <a:endParaRPr lang="en-US" sz="1300"/>
          </a:p>
        </p:txBody>
      </p:sp>
      <p:sp>
        <p:nvSpPr>
          <p:cNvPr id="8" name="Shape 6"/>
          <p:cNvSpPr/>
          <p:nvPr/>
        </p:nvSpPr>
        <p:spPr>
          <a:xfrm>
            <a:off x="182880" y="1572768"/>
            <a:ext cx="73152" cy="292608"/>
          </a:xfrm>
          <a:prstGeom prst="rect">
            <a:avLst/>
          </a:prstGeom>
          <a:solidFill>
            <a:srgbClr val="F5A623"/>
          </a:solidFill>
          <a:ln w="12700">
            <a:solidFill>
              <a:srgbClr val="F5A623"/>
            </a:solidFill>
            <a:prstDash val="solid"/>
          </a:ln>
        </p:spPr>
      </p:sp>
      <p:sp>
        <p:nvSpPr>
          <p:cNvPr id="9" name="Text 7"/>
          <p:cNvSpPr/>
          <p:nvPr/>
        </p:nvSpPr>
        <p:spPr>
          <a:xfrm>
            <a:off x="365760" y="1499616"/>
            <a:ext cx="3931920" cy="475488"/>
          </a:xfrm>
          <a:prstGeom prst="rect">
            <a:avLst/>
          </a:prstGeom>
          <a:noFill/>
          <a:ln/>
        </p:spPr>
        <p:txBody>
          <a:bodyPr wrap="square" rtlCol="0" anchor="ctr"/>
          <a:lstStyle/>
          <a:p>
            <a:pPr marL="0" indent="0" algn="l">
              <a:buNone/>
            </a:pPr>
            <a:r>
              <a:rPr lang="en-US" sz="1300">
                <a:solidFill>
                  <a:srgbClr val="E8F0FF"/>
                </a:solidFill>
                <a:latin typeface="Calibri" pitchFamily="34" charset="0"/>
                <a:ea typeface="Calibri" pitchFamily="34" charset="-122"/>
                <a:cs typeface="Calibri" pitchFamily="34" charset="-120"/>
              </a:rPr>
              <a:t>Calibrated output closely follows TSL2561 reference</a:t>
            </a:r>
            <a:endParaRPr lang="en-US" sz="1300"/>
          </a:p>
        </p:txBody>
      </p:sp>
      <p:sp>
        <p:nvSpPr>
          <p:cNvPr id="10" name="Shape 8"/>
          <p:cNvSpPr/>
          <p:nvPr/>
        </p:nvSpPr>
        <p:spPr>
          <a:xfrm>
            <a:off x="182880" y="2084832"/>
            <a:ext cx="73152" cy="292608"/>
          </a:xfrm>
          <a:prstGeom prst="rect">
            <a:avLst/>
          </a:prstGeom>
          <a:solidFill>
            <a:srgbClr val="F5A623"/>
          </a:solidFill>
          <a:ln w="12700">
            <a:solidFill>
              <a:srgbClr val="F5A623"/>
            </a:solidFill>
            <a:prstDash val="solid"/>
          </a:ln>
        </p:spPr>
      </p:sp>
      <p:sp>
        <p:nvSpPr>
          <p:cNvPr id="11" name="Text 9"/>
          <p:cNvSpPr/>
          <p:nvPr/>
        </p:nvSpPr>
        <p:spPr>
          <a:xfrm>
            <a:off x="365760" y="2011680"/>
            <a:ext cx="3931920" cy="475488"/>
          </a:xfrm>
          <a:prstGeom prst="rect">
            <a:avLst/>
          </a:prstGeom>
          <a:noFill/>
          <a:ln/>
        </p:spPr>
        <p:txBody>
          <a:bodyPr wrap="square" rtlCol="0" anchor="ctr"/>
          <a:lstStyle/>
          <a:p>
            <a:pPr marL="0" indent="0" algn="l">
              <a:buNone/>
            </a:pPr>
            <a:r>
              <a:rPr lang="en-US" sz="1300">
                <a:solidFill>
                  <a:srgbClr val="E8F0FF"/>
                </a:solidFill>
                <a:latin typeface="Calibri" pitchFamily="34" charset="0"/>
                <a:ea typeface="Calibri" pitchFamily="34" charset="-122"/>
                <a:cs typeface="Calibri" pitchFamily="34" charset="-120"/>
              </a:rPr>
              <a:t>BH1750 confirms accuracy of calibrated lux</a:t>
            </a:r>
            <a:endParaRPr lang="en-US" sz="1300"/>
          </a:p>
        </p:txBody>
      </p:sp>
      <p:sp>
        <p:nvSpPr>
          <p:cNvPr id="12" name="Shape 10"/>
          <p:cNvSpPr/>
          <p:nvPr/>
        </p:nvSpPr>
        <p:spPr>
          <a:xfrm>
            <a:off x="182880" y="2596896"/>
            <a:ext cx="73152" cy="292608"/>
          </a:xfrm>
          <a:prstGeom prst="rect">
            <a:avLst/>
          </a:prstGeom>
          <a:solidFill>
            <a:srgbClr val="F5A623"/>
          </a:solidFill>
          <a:ln w="12700">
            <a:solidFill>
              <a:srgbClr val="F5A623"/>
            </a:solidFill>
            <a:prstDash val="solid"/>
          </a:ln>
        </p:spPr>
      </p:sp>
      <p:sp>
        <p:nvSpPr>
          <p:cNvPr id="13" name="Text 11"/>
          <p:cNvSpPr/>
          <p:nvPr/>
        </p:nvSpPr>
        <p:spPr>
          <a:xfrm>
            <a:off x="365760" y="2523744"/>
            <a:ext cx="3931920" cy="475488"/>
          </a:xfrm>
          <a:prstGeom prst="rect">
            <a:avLst/>
          </a:prstGeom>
          <a:noFill/>
          <a:ln/>
        </p:spPr>
        <p:txBody>
          <a:bodyPr wrap="square" rtlCol="0" anchor="ctr"/>
          <a:lstStyle/>
          <a:p>
            <a:pPr marL="0" indent="0" algn="l">
              <a:buNone/>
            </a:pPr>
            <a:r>
              <a:rPr lang="en-US" sz="1300">
                <a:solidFill>
                  <a:srgbClr val="E8F0FF"/>
                </a:solidFill>
                <a:latin typeface="Calibri" pitchFamily="34" charset="0"/>
                <a:ea typeface="Calibri" pitchFamily="34" charset="-122"/>
                <a:cs typeface="Calibri" pitchFamily="34" charset="-120"/>
              </a:rPr>
              <a:t>ML model significantly reduces measurement error</a:t>
            </a:r>
            <a:endParaRPr lang="en-US" sz="1300"/>
          </a:p>
        </p:txBody>
      </p:sp>
      <p:sp>
        <p:nvSpPr>
          <p:cNvPr id="14" name="Shape 12"/>
          <p:cNvSpPr/>
          <p:nvPr/>
        </p:nvSpPr>
        <p:spPr>
          <a:xfrm>
            <a:off x="228600" y="3246120"/>
            <a:ext cx="256032" cy="137160"/>
          </a:xfrm>
          <a:prstGeom prst="rect">
            <a:avLst/>
          </a:prstGeom>
          <a:solidFill>
            <a:srgbClr val="EF4444"/>
          </a:solidFill>
          <a:ln w="12700">
            <a:solidFill>
              <a:srgbClr val="EF4444"/>
            </a:solidFill>
            <a:prstDash val="solid"/>
          </a:ln>
        </p:spPr>
      </p:sp>
      <p:sp>
        <p:nvSpPr>
          <p:cNvPr id="15" name="Text 13"/>
          <p:cNvSpPr/>
          <p:nvPr/>
        </p:nvSpPr>
        <p:spPr>
          <a:xfrm>
            <a:off x="594360" y="3154680"/>
            <a:ext cx="3657600" cy="310896"/>
          </a:xfrm>
          <a:prstGeom prst="rect">
            <a:avLst/>
          </a:prstGeom>
          <a:noFill/>
          <a:ln/>
        </p:spPr>
        <p:txBody>
          <a:bodyPr wrap="square" rtlCol="0" anchor="ctr"/>
          <a:lstStyle/>
          <a:p>
            <a:pPr marL="0" indent="0" algn="l">
              <a:buNone/>
            </a:pPr>
            <a:r>
              <a:rPr lang="en-US" sz="1150">
                <a:solidFill>
                  <a:srgbClr val="E8F0FF"/>
                </a:solidFill>
                <a:latin typeface="Calibri" pitchFamily="34" charset="0"/>
                <a:ea typeface="Calibri" pitchFamily="34" charset="-122"/>
                <a:cs typeface="Calibri" pitchFamily="34" charset="-120"/>
              </a:rPr>
              <a:t>Raw LDR (uncalibrated)</a:t>
            </a:r>
            <a:endParaRPr lang="en-US" sz="1150"/>
          </a:p>
        </p:txBody>
      </p:sp>
      <p:sp>
        <p:nvSpPr>
          <p:cNvPr id="16" name="Shape 14"/>
          <p:cNvSpPr/>
          <p:nvPr/>
        </p:nvSpPr>
        <p:spPr>
          <a:xfrm>
            <a:off x="228600" y="3575304"/>
            <a:ext cx="256032" cy="137160"/>
          </a:xfrm>
          <a:prstGeom prst="rect">
            <a:avLst/>
          </a:prstGeom>
          <a:solidFill>
            <a:srgbClr val="00B4D8"/>
          </a:solidFill>
          <a:ln w="12700">
            <a:solidFill>
              <a:srgbClr val="00B4D8"/>
            </a:solidFill>
            <a:prstDash val="solid"/>
          </a:ln>
        </p:spPr>
      </p:sp>
      <p:sp>
        <p:nvSpPr>
          <p:cNvPr id="17" name="Text 15"/>
          <p:cNvSpPr/>
          <p:nvPr/>
        </p:nvSpPr>
        <p:spPr>
          <a:xfrm>
            <a:off x="594360" y="3483864"/>
            <a:ext cx="3657600" cy="310896"/>
          </a:xfrm>
          <a:prstGeom prst="rect">
            <a:avLst/>
          </a:prstGeom>
          <a:noFill/>
          <a:ln/>
        </p:spPr>
        <p:txBody>
          <a:bodyPr wrap="square" rtlCol="0" anchor="ctr"/>
          <a:lstStyle/>
          <a:p>
            <a:pPr marL="0" indent="0" algn="l">
              <a:buNone/>
            </a:pPr>
            <a:r>
              <a:rPr lang="en-US" sz="1150">
                <a:solidFill>
                  <a:srgbClr val="E8F0FF"/>
                </a:solidFill>
                <a:latin typeface="Calibri" pitchFamily="34" charset="0"/>
                <a:ea typeface="Calibri" pitchFamily="34" charset="-122"/>
                <a:cs typeface="Calibri" pitchFamily="34" charset="-120"/>
              </a:rPr>
              <a:t>TSL2561 Reference Lux</a:t>
            </a:r>
            <a:endParaRPr lang="en-US" sz="1150"/>
          </a:p>
        </p:txBody>
      </p:sp>
      <p:sp>
        <p:nvSpPr>
          <p:cNvPr id="18" name="Shape 16"/>
          <p:cNvSpPr/>
          <p:nvPr/>
        </p:nvSpPr>
        <p:spPr>
          <a:xfrm>
            <a:off x="228600" y="3904488"/>
            <a:ext cx="256032" cy="137160"/>
          </a:xfrm>
          <a:prstGeom prst="rect">
            <a:avLst/>
          </a:prstGeom>
          <a:solidFill>
            <a:srgbClr val="22C55E"/>
          </a:solidFill>
          <a:ln w="12700">
            <a:solidFill>
              <a:srgbClr val="22C55E"/>
            </a:solidFill>
            <a:prstDash val="solid"/>
          </a:ln>
        </p:spPr>
      </p:sp>
      <p:sp>
        <p:nvSpPr>
          <p:cNvPr id="19" name="Text 17"/>
          <p:cNvSpPr/>
          <p:nvPr/>
        </p:nvSpPr>
        <p:spPr>
          <a:xfrm>
            <a:off x="594360" y="3813048"/>
            <a:ext cx="3657600" cy="310896"/>
          </a:xfrm>
          <a:prstGeom prst="rect">
            <a:avLst/>
          </a:prstGeom>
          <a:noFill/>
          <a:ln/>
        </p:spPr>
        <p:txBody>
          <a:bodyPr wrap="square" rtlCol="0" anchor="ctr"/>
          <a:lstStyle/>
          <a:p>
            <a:pPr marL="0" indent="0" algn="l">
              <a:buNone/>
            </a:pPr>
            <a:r>
              <a:rPr lang="en-US" sz="1150">
                <a:solidFill>
                  <a:srgbClr val="E8F0FF"/>
                </a:solidFill>
                <a:latin typeface="Calibri" pitchFamily="34" charset="0"/>
                <a:ea typeface="Calibri" pitchFamily="34" charset="-122"/>
                <a:cs typeface="Calibri" pitchFamily="34" charset="-120"/>
              </a:rPr>
              <a:t>Calibrated Lux (ML Output)</a:t>
            </a:r>
            <a:endParaRPr lang="en-US" sz="1150"/>
          </a:p>
        </p:txBody>
      </p:sp>
      <p:sp>
        <p:nvSpPr>
          <p:cNvPr id="20" name="Shape 18"/>
          <p:cNvSpPr/>
          <p:nvPr/>
        </p:nvSpPr>
        <p:spPr>
          <a:xfrm>
            <a:off x="228600" y="4233672"/>
            <a:ext cx="256032" cy="137160"/>
          </a:xfrm>
          <a:prstGeom prst="rect">
            <a:avLst/>
          </a:prstGeom>
          <a:solidFill>
            <a:srgbClr val="F5A623"/>
          </a:solidFill>
          <a:ln w="12700">
            <a:solidFill>
              <a:srgbClr val="F5A623"/>
            </a:solidFill>
            <a:prstDash val="solid"/>
          </a:ln>
        </p:spPr>
      </p:sp>
      <p:sp>
        <p:nvSpPr>
          <p:cNvPr id="21" name="Text 19"/>
          <p:cNvSpPr/>
          <p:nvPr/>
        </p:nvSpPr>
        <p:spPr>
          <a:xfrm>
            <a:off x="594360" y="4142232"/>
            <a:ext cx="3657600" cy="310896"/>
          </a:xfrm>
          <a:prstGeom prst="rect">
            <a:avLst/>
          </a:prstGeom>
          <a:noFill/>
          <a:ln/>
        </p:spPr>
        <p:txBody>
          <a:bodyPr wrap="square" rtlCol="0" anchor="ctr"/>
          <a:lstStyle/>
          <a:p>
            <a:pPr marL="0" indent="0" algn="l">
              <a:buNone/>
            </a:pPr>
            <a:r>
              <a:rPr lang="en-US" sz="1150">
                <a:solidFill>
                  <a:srgbClr val="E8F0FF"/>
                </a:solidFill>
                <a:latin typeface="Calibri" pitchFamily="34" charset="0"/>
                <a:ea typeface="Calibri" pitchFamily="34" charset="-122"/>
                <a:cs typeface="Calibri" pitchFamily="34" charset="-120"/>
              </a:rPr>
              <a:t>BH1750 Validation</a:t>
            </a:r>
            <a:endParaRPr lang="en-US" sz="1150"/>
          </a:p>
        </p:txBody>
      </p:sp>
      <p:sp>
        <p:nvSpPr>
          <p:cNvPr id="22" name="Shape 20"/>
          <p:cNvSpPr/>
          <p:nvPr/>
        </p:nvSpPr>
        <p:spPr>
          <a:xfrm>
            <a:off x="4434840" y="960120"/>
            <a:ext cx="4480560" cy="292608"/>
          </a:xfrm>
          <a:prstGeom prst="rect">
            <a:avLst/>
          </a:prstGeom>
          <a:solidFill>
            <a:srgbClr val="2A1A00"/>
          </a:solidFill>
          <a:ln w="10160">
            <a:solidFill>
              <a:srgbClr val="F5A623"/>
            </a:solidFill>
            <a:prstDash val="solid"/>
          </a:ln>
        </p:spPr>
      </p:sp>
      <p:sp>
        <p:nvSpPr>
          <p:cNvPr id="23" name="Text 21"/>
          <p:cNvSpPr/>
          <p:nvPr/>
        </p:nvSpPr>
        <p:spPr>
          <a:xfrm>
            <a:off x="4434840" y="960120"/>
            <a:ext cx="4480560" cy="292608"/>
          </a:xfrm>
          <a:prstGeom prst="rect">
            <a:avLst/>
          </a:prstGeom>
          <a:noFill/>
          <a:ln/>
        </p:spPr>
        <p:txBody>
          <a:bodyPr wrap="square" rtlCol="0" anchor="ctr"/>
          <a:lstStyle/>
          <a:p>
            <a:pPr marL="0" indent="0" algn="ctr">
              <a:buNone/>
            </a:pPr>
            <a:r>
              <a:rPr lang="en-US" sz="1000" b="1">
                <a:solidFill>
                  <a:srgbClr val="F5A623"/>
                </a:solidFill>
                <a:latin typeface="Calibri" pitchFamily="34" charset="0"/>
                <a:ea typeface="Calibri" pitchFamily="34" charset="-122"/>
                <a:cs typeface="Calibri" pitchFamily="34" charset="-120"/>
              </a:rPr>
              <a:t>Sensor Comparison: TSL2561 vs BH1750</a:t>
            </a:r>
            <a:endParaRPr lang="en-US" sz="1000"/>
          </a:p>
        </p:txBody>
      </p:sp>
      <p:pic>
        <p:nvPicPr>
          <p:cNvPr id="24" name="Image 0" descr="/mnt/user-data/uploads/1000094426.jpg"/>
          <p:cNvPicPr>
            <a:picLocks noChangeAspect="1"/>
          </p:cNvPicPr>
          <p:nvPr/>
        </p:nvPicPr>
        <p:blipFill>
          <a:blip r:embed="rId3"/>
          <a:stretch>
            <a:fillRect/>
          </a:stretch>
        </p:blipFill>
        <p:spPr>
          <a:xfrm>
            <a:off x="4434840" y="1252728"/>
            <a:ext cx="4480560" cy="350215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100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A1E35"/>
          </a:solidFill>
          <a:ln w="12700">
            <a:solidFill>
              <a:srgbClr val="0A1E35"/>
            </a:solidFill>
            <a:prstDash val="solid"/>
          </a:ln>
        </p:spPr>
      </p:sp>
      <p:sp>
        <p:nvSpPr>
          <p:cNvPr id="3" name="Shape 1"/>
          <p:cNvSpPr/>
          <p:nvPr/>
        </p:nvSpPr>
        <p:spPr>
          <a:xfrm>
            <a:off x="0" y="0"/>
            <a:ext cx="91440" cy="804672"/>
          </a:xfrm>
          <a:prstGeom prst="rect">
            <a:avLst/>
          </a:prstGeom>
          <a:solidFill>
            <a:srgbClr val="F5A623"/>
          </a:solidFill>
          <a:ln w="12700">
            <a:solidFill>
              <a:srgbClr val="F5A623"/>
            </a:solidFill>
            <a:prstDash val="solid"/>
          </a:ln>
        </p:spPr>
      </p:sp>
      <p:sp>
        <p:nvSpPr>
          <p:cNvPr id="4" name="Text 2"/>
          <p:cNvSpPr/>
          <p:nvPr/>
        </p:nvSpPr>
        <p:spPr>
          <a:xfrm>
            <a:off x="228600" y="0"/>
            <a:ext cx="8686800" cy="804672"/>
          </a:xfrm>
          <a:prstGeom prst="rect">
            <a:avLst/>
          </a:prstGeom>
          <a:noFill/>
          <a:ln/>
        </p:spPr>
        <p:txBody>
          <a:bodyPr wrap="square" rtlCol="0" anchor="ctr"/>
          <a:lstStyle/>
          <a:p>
            <a:pPr marL="0" indent="0" algn="l">
              <a:buNone/>
            </a:pPr>
            <a:r>
              <a:rPr lang="en-US" sz="2600" b="1">
                <a:solidFill>
                  <a:srgbClr val="FFFFFF"/>
                </a:solidFill>
                <a:latin typeface="Calibri" pitchFamily="34" charset="0"/>
                <a:ea typeface="Calibri" pitchFamily="34" charset="-122"/>
                <a:cs typeface="Calibri" pitchFamily="34" charset="-120"/>
              </a:rPr>
              <a:t>Smart Home Demo  •  Applications  •  Future Scope</a:t>
            </a:r>
            <a:endParaRPr lang="en-US" sz="2600"/>
          </a:p>
        </p:txBody>
      </p:sp>
      <p:sp>
        <p:nvSpPr>
          <p:cNvPr id="5" name="Shape 3"/>
          <p:cNvSpPr/>
          <p:nvPr/>
        </p:nvSpPr>
        <p:spPr>
          <a:xfrm>
            <a:off x="0" y="804672"/>
            <a:ext cx="91440" cy="4133088"/>
          </a:xfrm>
          <a:prstGeom prst="rect">
            <a:avLst/>
          </a:prstGeom>
          <a:solidFill>
            <a:srgbClr val="F5A623"/>
          </a:solidFill>
          <a:ln w="12700">
            <a:solidFill>
              <a:srgbClr val="F5A623"/>
            </a:solidFill>
            <a:prstDash val="solid"/>
          </a:ln>
        </p:spPr>
      </p:sp>
      <p:pic>
        <p:nvPicPr>
          <p:cNvPr id="6" name="Image 0" descr="preencoded.png"/>
          <p:cNvPicPr>
            <a:picLocks noChangeAspect="1"/>
          </p:cNvPicPr>
          <p:nvPr/>
        </p:nvPicPr>
        <p:blipFill>
          <a:blip r:embed="rId3"/>
          <a:stretch>
            <a:fillRect/>
          </a:stretch>
        </p:blipFill>
        <p:spPr>
          <a:xfrm>
            <a:off x="8183880" y="182880"/>
            <a:ext cx="457200" cy="457200"/>
          </a:xfrm>
          <a:prstGeom prst="rect">
            <a:avLst/>
          </a:prstGeom>
        </p:spPr>
      </p:pic>
      <p:sp>
        <p:nvSpPr>
          <p:cNvPr id="7" name="Shape 4"/>
          <p:cNvSpPr/>
          <p:nvPr/>
        </p:nvSpPr>
        <p:spPr>
          <a:xfrm>
            <a:off x="182880" y="960120"/>
            <a:ext cx="2377440" cy="347472"/>
          </a:xfrm>
          <a:prstGeom prst="rect">
            <a:avLst/>
          </a:prstGeom>
          <a:solidFill>
            <a:srgbClr val="0A3E22"/>
          </a:solidFill>
          <a:ln w="11430">
            <a:solidFill>
              <a:srgbClr val="22C55E"/>
            </a:solidFill>
            <a:prstDash val="solid"/>
          </a:ln>
        </p:spPr>
      </p:sp>
      <p:sp>
        <p:nvSpPr>
          <p:cNvPr id="8" name="Text 5"/>
          <p:cNvSpPr/>
          <p:nvPr/>
        </p:nvSpPr>
        <p:spPr>
          <a:xfrm>
            <a:off x="182880" y="960120"/>
            <a:ext cx="2377440" cy="347472"/>
          </a:xfrm>
          <a:prstGeom prst="rect">
            <a:avLst/>
          </a:prstGeom>
          <a:noFill/>
          <a:ln/>
        </p:spPr>
        <p:txBody>
          <a:bodyPr wrap="square" rtlCol="0" anchor="ctr"/>
          <a:lstStyle/>
          <a:p>
            <a:pPr marL="0" indent="0" algn="ctr">
              <a:buNone/>
            </a:pPr>
            <a:r>
              <a:rPr lang="en-US" sz="1200" b="1">
                <a:solidFill>
                  <a:srgbClr val="22C55E"/>
                </a:solidFill>
                <a:latin typeface="Calibri" pitchFamily="34" charset="0"/>
                <a:ea typeface="Calibri" pitchFamily="34" charset="-122"/>
                <a:cs typeface="Calibri" pitchFamily="34" charset="-120"/>
              </a:rPr>
              <a:t>Smart Home Demo</a:t>
            </a:r>
            <a:endParaRPr lang="en-US" sz="1200"/>
          </a:p>
        </p:txBody>
      </p:sp>
      <p:sp>
        <p:nvSpPr>
          <p:cNvPr id="9" name="Shape 6"/>
          <p:cNvSpPr/>
          <p:nvPr/>
        </p:nvSpPr>
        <p:spPr>
          <a:xfrm>
            <a:off x="256032" y="1545336"/>
            <a:ext cx="100584" cy="100584"/>
          </a:xfrm>
          <a:prstGeom prst="ellipse">
            <a:avLst/>
          </a:prstGeom>
          <a:solidFill>
            <a:srgbClr val="22C55E"/>
          </a:solidFill>
          <a:ln w="12700">
            <a:solidFill>
              <a:srgbClr val="22C55E"/>
            </a:solidFill>
            <a:prstDash val="solid"/>
          </a:ln>
        </p:spPr>
      </p:sp>
      <p:sp>
        <p:nvSpPr>
          <p:cNvPr id="10" name="Text 7"/>
          <p:cNvSpPr/>
          <p:nvPr/>
        </p:nvSpPr>
        <p:spPr>
          <a:xfrm>
            <a:off x="457200" y="1426464"/>
            <a:ext cx="2286000" cy="338328"/>
          </a:xfrm>
          <a:prstGeom prst="rect">
            <a:avLst/>
          </a:prstGeom>
          <a:noFill/>
          <a:ln/>
        </p:spPr>
        <p:txBody>
          <a:bodyPr wrap="square" rtlCol="0" anchor="ctr"/>
          <a:lstStyle/>
          <a:p>
            <a:pPr marL="0" indent="0" algn="l">
              <a:buNone/>
            </a:pPr>
            <a:r>
              <a:rPr lang="en-US" sz="1150">
                <a:solidFill>
                  <a:srgbClr val="E8F0FF"/>
                </a:solidFill>
                <a:latin typeface="Calibri" pitchFamily="34" charset="0"/>
                <a:ea typeface="Calibri" pitchFamily="34" charset="-122"/>
                <a:cs typeface="Calibri" pitchFamily="34" charset="-120"/>
              </a:rPr>
              <a:t>House model built for indoor demo</a:t>
            </a:r>
            <a:endParaRPr lang="en-US" sz="1150"/>
          </a:p>
        </p:txBody>
      </p:sp>
      <p:sp>
        <p:nvSpPr>
          <p:cNvPr id="11" name="Shape 8"/>
          <p:cNvSpPr/>
          <p:nvPr/>
        </p:nvSpPr>
        <p:spPr>
          <a:xfrm>
            <a:off x="256032" y="1901952"/>
            <a:ext cx="100584" cy="100584"/>
          </a:xfrm>
          <a:prstGeom prst="ellipse">
            <a:avLst/>
          </a:prstGeom>
          <a:solidFill>
            <a:srgbClr val="22C55E"/>
          </a:solidFill>
          <a:ln w="12700">
            <a:solidFill>
              <a:srgbClr val="22C55E"/>
            </a:solidFill>
            <a:prstDash val="solid"/>
          </a:ln>
        </p:spPr>
      </p:sp>
      <p:sp>
        <p:nvSpPr>
          <p:cNvPr id="12" name="Text 9"/>
          <p:cNvSpPr/>
          <p:nvPr/>
        </p:nvSpPr>
        <p:spPr>
          <a:xfrm>
            <a:off x="457200" y="1783080"/>
            <a:ext cx="2286000" cy="338328"/>
          </a:xfrm>
          <a:prstGeom prst="rect">
            <a:avLst/>
          </a:prstGeom>
          <a:noFill/>
          <a:ln/>
        </p:spPr>
        <p:txBody>
          <a:bodyPr wrap="square" rtlCol="0" anchor="ctr"/>
          <a:lstStyle/>
          <a:p>
            <a:pPr marL="0" indent="0" algn="l">
              <a:buNone/>
            </a:pPr>
            <a:r>
              <a:rPr lang="en-US" sz="1150">
                <a:solidFill>
                  <a:srgbClr val="E8F0FF"/>
                </a:solidFill>
                <a:latin typeface="Calibri" pitchFamily="34" charset="0"/>
                <a:ea typeface="Calibri" pitchFamily="34" charset="-122"/>
                <a:cs typeface="Calibri" pitchFamily="34" charset="-120"/>
              </a:rPr>
              <a:t>Monitors indoor light in real time</a:t>
            </a:r>
            <a:endParaRPr lang="en-US" sz="1150"/>
          </a:p>
        </p:txBody>
      </p:sp>
      <p:sp>
        <p:nvSpPr>
          <p:cNvPr id="13" name="Shape 10"/>
          <p:cNvSpPr/>
          <p:nvPr/>
        </p:nvSpPr>
        <p:spPr>
          <a:xfrm>
            <a:off x="256032" y="2258568"/>
            <a:ext cx="100584" cy="100584"/>
          </a:xfrm>
          <a:prstGeom prst="ellipse">
            <a:avLst/>
          </a:prstGeom>
          <a:solidFill>
            <a:srgbClr val="22C55E"/>
          </a:solidFill>
          <a:ln w="12700">
            <a:solidFill>
              <a:srgbClr val="22C55E"/>
            </a:solidFill>
            <a:prstDash val="solid"/>
          </a:ln>
        </p:spPr>
      </p:sp>
      <p:sp>
        <p:nvSpPr>
          <p:cNvPr id="14" name="Text 11"/>
          <p:cNvSpPr/>
          <p:nvPr/>
        </p:nvSpPr>
        <p:spPr>
          <a:xfrm>
            <a:off x="457200" y="2139696"/>
            <a:ext cx="2286000" cy="338328"/>
          </a:xfrm>
          <a:prstGeom prst="rect">
            <a:avLst/>
          </a:prstGeom>
          <a:noFill/>
          <a:ln/>
        </p:spPr>
        <p:txBody>
          <a:bodyPr wrap="square" rtlCol="0" anchor="ctr"/>
          <a:lstStyle/>
          <a:p>
            <a:pPr marL="0" indent="0" algn="l">
              <a:buNone/>
            </a:pPr>
            <a:r>
              <a:rPr lang="en-US" sz="1150">
                <a:solidFill>
                  <a:srgbClr val="E8F0FF"/>
                </a:solidFill>
                <a:latin typeface="Calibri" pitchFamily="34" charset="0"/>
                <a:ea typeface="Calibri" pitchFamily="34" charset="-122"/>
                <a:cs typeface="Calibri" pitchFamily="34" charset="-120"/>
              </a:rPr>
              <a:t>LED ON when calibrated lux is low</a:t>
            </a:r>
            <a:endParaRPr lang="en-US" sz="1150"/>
          </a:p>
        </p:txBody>
      </p:sp>
      <p:sp>
        <p:nvSpPr>
          <p:cNvPr id="15" name="Shape 12"/>
          <p:cNvSpPr/>
          <p:nvPr/>
        </p:nvSpPr>
        <p:spPr>
          <a:xfrm>
            <a:off x="256032" y="2615184"/>
            <a:ext cx="100584" cy="100584"/>
          </a:xfrm>
          <a:prstGeom prst="ellipse">
            <a:avLst/>
          </a:prstGeom>
          <a:solidFill>
            <a:srgbClr val="22C55E"/>
          </a:solidFill>
          <a:ln w="12700">
            <a:solidFill>
              <a:srgbClr val="22C55E"/>
            </a:solidFill>
            <a:prstDash val="solid"/>
          </a:ln>
        </p:spPr>
      </p:sp>
      <p:sp>
        <p:nvSpPr>
          <p:cNvPr id="16" name="Text 13"/>
          <p:cNvSpPr/>
          <p:nvPr/>
        </p:nvSpPr>
        <p:spPr>
          <a:xfrm>
            <a:off x="457200" y="2496312"/>
            <a:ext cx="2286000" cy="338328"/>
          </a:xfrm>
          <a:prstGeom prst="rect">
            <a:avLst/>
          </a:prstGeom>
          <a:noFill/>
          <a:ln/>
        </p:spPr>
        <p:txBody>
          <a:bodyPr wrap="square" rtlCol="0" anchor="ctr"/>
          <a:lstStyle/>
          <a:p>
            <a:pPr marL="0" indent="0" algn="l">
              <a:buNone/>
            </a:pPr>
            <a:r>
              <a:rPr lang="en-US" sz="1150">
                <a:solidFill>
                  <a:srgbClr val="E8F0FF"/>
                </a:solidFill>
                <a:latin typeface="Calibri" pitchFamily="34" charset="0"/>
                <a:ea typeface="Calibri" pitchFamily="34" charset="-122"/>
                <a:cs typeface="Calibri" pitchFamily="34" charset="-120"/>
              </a:rPr>
              <a:t>LED OFF when brightness is sufficient</a:t>
            </a:r>
            <a:endParaRPr lang="en-US" sz="1150"/>
          </a:p>
        </p:txBody>
      </p:sp>
      <p:sp>
        <p:nvSpPr>
          <p:cNvPr id="17" name="Shape 14"/>
          <p:cNvSpPr/>
          <p:nvPr/>
        </p:nvSpPr>
        <p:spPr>
          <a:xfrm>
            <a:off x="182880" y="2944368"/>
            <a:ext cx="2377440" cy="347472"/>
          </a:xfrm>
          <a:prstGeom prst="rect">
            <a:avLst/>
          </a:prstGeom>
          <a:solidFill>
            <a:srgbClr val="1A1400"/>
          </a:solidFill>
          <a:ln w="11430">
            <a:solidFill>
              <a:srgbClr val="F5A623"/>
            </a:solidFill>
            <a:prstDash val="solid"/>
          </a:ln>
        </p:spPr>
      </p:sp>
      <p:sp>
        <p:nvSpPr>
          <p:cNvPr id="18" name="Text 15"/>
          <p:cNvSpPr/>
          <p:nvPr/>
        </p:nvSpPr>
        <p:spPr>
          <a:xfrm>
            <a:off x="182880" y="2944368"/>
            <a:ext cx="2377440" cy="347472"/>
          </a:xfrm>
          <a:prstGeom prst="rect">
            <a:avLst/>
          </a:prstGeom>
          <a:noFill/>
          <a:ln/>
        </p:spPr>
        <p:txBody>
          <a:bodyPr wrap="square" rtlCol="0" anchor="ctr"/>
          <a:lstStyle/>
          <a:p>
            <a:pPr marL="0" indent="0" algn="ctr">
              <a:buNone/>
            </a:pPr>
            <a:r>
              <a:rPr lang="en-US" sz="1200" b="1">
                <a:solidFill>
                  <a:srgbClr val="F5A623"/>
                </a:solidFill>
                <a:latin typeface="Calibri" pitchFamily="34" charset="0"/>
                <a:ea typeface="Calibri" pitchFamily="34" charset="-122"/>
                <a:cs typeface="Calibri" pitchFamily="34" charset="-120"/>
              </a:rPr>
              <a:t>Applications</a:t>
            </a:r>
            <a:endParaRPr lang="en-US" sz="1200"/>
          </a:p>
        </p:txBody>
      </p:sp>
      <p:sp>
        <p:nvSpPr>
          <p:cNvPr id="19" name="Shape 16"/>
          <p:cNvSpPr/>
          <p:nvPr/>
        </p:nvSpPr>
        <p:spPr>
          <a:xfrm>
            <a:off x="256032" y="3502152"/>
            <a:ext cx="100584" cy="100584"/>
          </a:xfrm>
          <a:prstGeom prst="ellipse">
            <a:avLst/>
          </a:prstGeom>
          <a:solidFill>
            <a:srgbClr val="F5A623"/>
          </a:solidFill>
          <a:ln w="12700">
            <a:solidFill>
              <a:srgbClr val="F5A623"/>
            </a:solidFill>
            <a:prstDash val="solid"/>
          </a:ln>
        </p:spPr>
      </p:sp>
      <p:sp>
        <p:nvSpPr>
          <p:cNvPr id="20" name="Text 17"/>
          <p:cNvSpPr/>
          <p:nvPr/>
        </p:nvSpPr>
        <p:spPr>
          <a:xfrm>
            <a:off x="457200" y="3401568"/>
            <a:ext cx="2286000" cy="292608"/>
          </a:xfrm>
          <a:prstGeom prst="rect">
            <a:avLst/>
          </a:prstGeom>
          <a:noFill/>
          <a:ln/>
        </p:spPr>
        <p:txBody>
          <a:bodyPr wrap="square" rtlCol="0" anchor="ctr"/>
          <a:lstStyle/>
          <a:p>
            <a:pPr marL="0" indent="0" algn="l">
              <a:buNone/>
            </a:pPr>
            <a:r>
              <a:rPr lang="en-US" sz="1100">
                <a:solidFill>
                  <a:srgbClr val="E8F0FF"/>
                </a:solidFill>
                <a:latin typeface="Calibri" pitchFamily="34" charset="0"/>
                <a:ea typeface="Calibri" pitchFamily="34" charset="-122"/>
                <a:cs typeface="Calibri" pitchFamily="34" charset="-120"/>
              </a:rPr>
              <a:t>Smart home lighting systems</a:t>
            </a:r>
            <a:endParaRPr lang="en-US" sz="1100"/>
          </a:p>
        </p:txBody>
      </p:sp>
      <p:sp>
        <p:nvSpPr>
          <p:cNvPr id="21" name="Shape 18"/>
          <p:cNvSpPr/>
          <p:nvPr/>
        </p:nvSpPr>
        <p:spPr>
          <a:xfrm>
            <a:off x="256032" y="3813048"/>
            <a:ext cx="100584" cy="100584"/>
          </a:xfrm>
          <a:prstGeom prst="ellipse">
            <a:avLst/>
          </a:prstGeom>
          <a:solidFill>
            <a:srgbClr val="F5A623"/>
          </a:solidFill>
          <a:ln w="12700">
            <a:solidFill>
              <a:srgbClr val="F5A623"/>
            </a:solidFill>
            <a:prstDash val="solid"/>
          </a:ln>
        </p:spPr>
      </p:sp>
      <p:sp>
        <p:nvSpPr>
          <p:cNvPr id="22" name="Text 19"/>
          <p:cNvSpPr/>
          <p:nvPr/>
        </p:nvSpPr>
        <p:spPr>
          <a:xfrm>
            <a:off x="457200" y="3712464"/>
            <a:ext cx="2286000" cy="292608"/>
          </a:xfrm>
          <a:prstGeom prst="rect">
            <a:avLst/>
          </a:prstGeom>
          <a:noFill/>
          <a:ln/>
        </p:spPr>
        <p:txBody>
          <a:bodyPr wrap="square" rtlCol="0" anchor="ctr"/>
          <a:lstStyle/>
          <a:p>
            <a:pPr marL="0" indent="0" algn="l">
              <a:buNone/>
            </a:pPr>
            <a:r>
              <a:rPr lang="en-US" sz="1100">
                <a:solidFill>
                  <a:srgbClr val="E8F0FF"/>
                </a:solidFill>
                <a:latin typeface="Calibri" pitchFamily="34" charset="0"/>
                <a:ea typeface="Calibri" pitchFamily="34" charset="-122"/>
                <a:cs typeface="Calibri" pitchFamily="34" charset="-120"/>
              </a:rPr>
              <a:t>Automatic room light control</a:t>
            </a:r>
            <a:endParaRPr lang="en-US" sz="1100"/>
          </a:p>
        </p:txBody>
      </p:sp>
      <p:sp>
        <p:nvSpPr>
          <p:cNvPr id="23" name="Shape 20"/>
          <p:cNvSpPr/>
          <p:nvPr/>
        </p:nvSpPr>
        <p:spPr>
          <a:xfrm>
            <a:off x="256032" y="4123944"/>
            <a:ext cx="100584" cy="100584"/>
          </a:xfrm>
          <a:prstGeom prst="ellipse">
            <a:avLst/>
          </a:prstGeom>
          <a:solidFill>
            <a:srgbClr val="F5A623"/>
          </a:solidFill>
          <a:ln w="12700">
            <a:solidFill>
              <a:srgbClr val="F5A623"/>
            </a:solidFill>
            <a:prstDash val="solid"/>
          </a:ln>
        </p:spPr>
      </p:sp>
      <p:sp>
        <p:nvSpPr>
          <p:cNvPr id="24" name="Text 21"/>
          <p:cNvSpPr/>
          <p:nvPr/>
        </p:nvSpPr>
        <p:spPr>
          <a:xfrm>
            <a:off x="457200" y="4023360"/>
            <a:ext cx="2286000" cy="292608"/>
          </a:xfrm>
          <a:prstGeom prst="rect">
            <a:avLst/>
          </a:prstGeom>
          <a:noFill/>
          <a:ln/>
        </p:spPr>
        <p:txBody>
          <a:bodyPr wrap="square" rtlCol="0" anchor="ctr"/>
          <a:lstStyle/>
          <a:p>
            <a:pPr marL="0" indent="0" algn="l">
              <a:buNone/>
            </a:pPr>
            <a:r>
              <a:rPr lang="en-US" sz="1100">
                <a:solidFill>
                  <a:srgbClr val="E8F0FF"/>
                </a:solidFill>
                <a:latin typeface="Calibri" pitchFamily="34" charset="0"/>
                <a:ea typeface="Calibri" pitchFamily="34" charset="-122"/>
                <a:cs typeface="Calibri" pitchFamily="34" charset="-120"/>
              </a:rPr>
              <a:t>Energy-efficient indoor setups</a:t>
            </a:r>
            <a:endParaRPr lang="en-US" sz="1100"/>
          </a:p>
        </p:txBody>
      </p:sp>
      <p:sp>
        <p:nvSpPr>
          <p:cNvPr id="25" name="Shape 22"/>
          <p:cNvSpPr/>
          <p:nvPr/>
        </p:nvSpPr>
        <p:spPr>
          <a:xfrm>
            <a:off x="256032" y="4434840"/>
            <a:ext cx="100584" cy="100584"/>
          </a:xfrm>
          <a:prstGeom prst="ellipse">
            <a:avLst/>
          </a:prstGeom>
          <a:solidFill>
            <a:srgbClr val="F5A623"/>
          </a:solidFill>
          <a:ln w="12700">
            <a:solidFill>
              <a:srgbClr val="F5A623"/>
            </a:solidFill>
            <a:prstDash val="solid"/>
          </a:ln>
        </p:spPr>
      </p:sp>
      <p:sp>
        <p:nvSpPr>
          <p:cNvPr id="26" name="Text 23"/>
          <p:cNvSpPr/>
          <p:nvPr/>
        </p:nvSpPr>
        <p:spPr>
          <a:xfrm>
            <a:off x="457200" y="4334256"/>
            <a:ext cx="2286000" cy="292608"/>
          </a:xfrm>
          <a:prstGeom prst="rect">
            <a:avLst/>
          </a:prstGeom>
          <a:noFill/>
          <a:ln/>
        </p:spPr>
        <p:txBody>
          <a:bodyPr wrap="square" rtlCol="0" anchor="ctr"/>
          <a:lstStyle/>
          <a:p>
            <a:pPr marL="0" indent="0" algn="l">
              <a:buNone/>
            </a:pPr>
            <a:r>
              <a:rPr lang="en-US" sz="1100">
                <a:solidFill>
                  <a:srgbClr val="E8F0FF"/>
                </a:solidFill>
                <a:latin typeface="Calibri" pitchFamily="34" charset="0"/>
                <a:ea typeface="Calibri" pitchFamily="34" charset="-122"/>
                <a:cs typeface="Calibri" pitchFamily="34" charset="-120"/>
              </a:rPr>
              <a:t>Building automation</a:t>
            </a:r>
            <a:endParaRPr lang="en-US" sz="1100"/>
          </a:p>
        </p:txBody>
      </p:sp>
      <p:sp>
        <p:nvSpPr>
          <p:cNvPr id="27" name="Shape 24"/>
          <p:cNvSpPr/>
          <p:nvPr/>
        </p:nvSpPr>
        <p:spPr>
          <a:xfrm>
            <a:off x="2816352" y="960120"/>
            <a:ext cx="2423160" cy="347472"/>
          </a:xfrm>
          <a:prstGeom prst="rect">
            <a:avLst/>
          </a:prstGeom>
          <a:solidFill>
            <a:srgbClr val="0A1A35"/>
          </a:solidFill>
          <a:ln w="11430">
            <a:solidFill>
              <a:srgbClr val="00B4D8"/>
            </a:solidFill>
            <a:prstDash val="solid"/>
          </a:ln>
        </p:spPr>
      </p:sp>
      <p:sp>
        <p:nvSpPr>
          <p:cNvPr id="28" name="Text 25"/>
          <p:cNvSpPr/>
          <p:nvPr/>
        </p:nvSpPr>
        <p:spPr>
          <a:xfrm>
            <a:off x="2816352" y="960120"/>
            <a:ext cx="2423160" cy="347472"/>
          </a:xfrm>
          <a:prstGeom prst="rect">
            <a:avLst/>
          </a:prstGeom>
          <a:noFill/>
          <a:ln/>
        </p:spPr>
        <p:txBody>
          <a:bodyPr wrap="square" rtlCol="0" anchor="ctr"/>
          <a:lstStyle/>
          <a:p>
            <a:pPr marL="0" indent="0" algn="ctr">
              <a:buNone/>
            </a:pPr>
            <a:r>
              <a:rPr lang="en-US" sz="1200" b="1">
                <a:solidFill>
                  <a:srgbClr val="00B4D8"/>
                </a:solidFill>
                <a:latin typeface="Calibri" pitchFamily="34" charset="0"/>
                <a:ea typeface="Calibri" pitchFamily="34" charset="-122"/>
                <a:cs typeface="Calibri" pitchFamily="34" charset="-120"/>
              </a:rPr>
              <a:t>Future Scope</a:t>
            </a:r>
            <a:endParaRPr lang="en-US" sz="1200"/>
          </a:p>
        </p:txBody>
      </p:sp>
      <p:sp>
        <p:nvSpPr>
          <p:cNvPr id="29" name="Shape 26"/>
          <p:cNvSpPr/>
          <p:nvPr/>
        </p:nvSpPr>
        <p:spPr>
          <a:xfrm>
            <a:off x="2889504" y="1545336"/>
            <a:ext cx="100584" cy="100584"/>
          </a:xfrm>
          <a:prstGeom prst="ellipse">
            <a:avLst/>
          </a:prstGeom>
          <a:solidFill>
            <a:srgbClr val="00B4D8"/>
          </a:solidFill>
          <a:ln w="12700">
            <a:solidFill>
              <a:srgbClr val="00B4D8"/>
            </a:solidFill>
            <a:prstDash val="solid"/>
          </a:ln>
        </p:spPr>
      </p:sp>
      <p:sp>
        <p:nvSpPr>
          <p:cNvPr id="30" name="Text 27"/>
          <p:cNvSpPr/>
          <p:nvPr/>
        </p:nvSpPr>
        <p:spPr>
          <a:xfrm>
            <a:off x="3090672" y="1426464"/>
            <a:ext cx="2103120" cy="338328"/>
          </a:xfrm>
          <a:prstGeom prst="rect">
            <a:avLst/>
          </a:prstGeom>
          <a:noFill/>
          <a:ln/>
        </p:spPr>
        <p:txBody>
          <a:bodyPr wrap="square" rtlCol="0" anchor="ctr"/>
          <a:lstStyle/>
          <a:p>
            <a:pPr marL="0" indent="0" algn="l">
              <a:buNone/>
            </a:pPr>
            <a:r>
              <a:rPr lang="en-US" sz="1150">
                <a:solidFill>
                  <a:srgbClr val="E8F0FF"/>
                </a:solidFill>
                <a:latin typeface="Calibri" pitchFamily="34" charset="0"/>
                <a:ea typeface="Calibri" pitchFamily="34" charset="-122"/>
                <a:cs typeface="Calibri" pitchFamily="34" charset="-120"/>
              </a:rPr>
              <a:t>IoT dashboard integration</a:t>
            </a:r>
            <a:endParaRPr lang="en-US" sz="1150"/>
          </a:p>
        </p:txBody>
      </p:sp>
      <p:sp>
        <p:nvSpPr>
          <p:cNvPr id="31" name="Shape 28"/>
          <p:cNvSpPr/>
          <p:nvPr/>
        </p:nvSpPr>
        <p:spPr>
          <a:xfrm>
            <a:off x="2889504" y="1901952"/>
            <a:ext cx="100584" cy="100584"/>
          </a:xfrm>
          <a:prstGeom prst="ellipse">
            <a:avLst/>
          </a:prstGeom>
          <a:solidFill>
            <a:srgbClr val="00B4D8"/>
          </a:solidFill>
          <a:ln w="12700">
            <a:solidFill>
              <a:srgbClr val="00B4D8"/>
            </a:solidFill>
            <a:prstDash val="solid"/>
          </a:ln>
        </p:spPr>
      </p:sp>
      <p:sp>
        <p:nvSpPr>
          <p:cNvPr id="32" name="Text 29"/>
          <p:cNvSpPr/>
          <p:nvPr/>
        </p:nvSpPr>
        <p:spPr>
          <a:xfrm>
            <a:off x="3090672" y="1783080"/>
            <a:ext cx="2103120" cy="338328"/>
          </a:xfrm>
          <a:prstGeom prst="rect">
            <a:avLst/>
          </a:prstGeom>
          <a:noFill/>
          <a:ln/>
        </p:spPr>
        <p:txBody>
          <a:bodyPr wrap="square" rtlCol="0" anchor="ctr"/>
          <a:lstStyle/>
          <a:p>
            <a:pPr marL="0" indent="0" algn="l">
              <a:buNone/>
            </a:pPr>
            <a:r>
              <a:rPr lang="en-US" sz="1150">
                <a:solidFill>
                  <a:srgbClr val="E8F0FF"/>
                </a:solidFill>
                <a:latin typeface="Calibri" pitchFamily="34" charset="0"/>
                <a:ea typeface="Calibri" pitchFamily="34" charset="-122"/>
                <a:cs typeface="Calibri" pitchFamily="34" charset="-120"/>
              </a:rPr>
              <a:t>Multi-room automation</a:t>
            </a:r>
            <a:endParaRPr lang="en-US" sz="1150"/>
          </a:p>
        </p:txBody>
      </p:sp>
      <p:sp>
        <p:nvSpPr>
          <p:cNvPr id="33" name="Shape 30"/>
          <p:cNvSpPr/>
          <p:nvPr/>
        </p:nvSpPr>
        <p:spPr>
          <a:xfrm>
            <a:off x="2889504" y="2258568"/>
            <a:ext cx="100584" cy="100584"/>
          </a:xfrm>
          <a:prstGeom prst="ellipse">
            <a:avLst/>
          </a:prstGeom>
          <a:solidFill>
            <a:srgbClr val="00B4D8"/>
          </a:solidFill>
          <a:ln w="12700">
            <a:solidFill>
              <a:srgbClr val="00B4D8"/>
            </a:solidFill>
            <a:prstDash val="solid"/>
          </a:ln>
        </p:spPr>
      </p:sp>
      <p:sp>
        <p:nvSpPr>
          <p:cNvPr id="34" name="Text 31"/>
          <p:cNvSpPr/>
          <p:nvPr/>
        </p:nvSpPr>
        <p:spPr>
          <a:xfrm>
            <a:off x="3090672" y="2139696"/>
            <a:ext cx="2103120" cy="338328"/>
          </a:xfrm>
          <a:prstGeom prst="rect">
            <a:avLst/>
          </a:prstGeom>
          <a:noFill/>
          <a:ln/>
        </p:spPr>
        <p:txBody>
          <a:bodyPr wrap="square" rtlCol="0" anchor="ctr"/>
          <a:lstStyle/>
          <a:p>
            <a:pPr marL="0" indent="0" algn="l">
              <a:buNone/>
            </a:pPr>
            <a:r>
              <a:rPr lang="en-US" sz="1150">
                <a:solidFill>
                  <a:srgbClr val="E8F0FF"/>
                </a:solidFill>
                <a:latin typeface="Calibri" pitchFamily="34" charset="0"/>
                <a:ea typeface="Calibri" pitchFamily="34" charset="-122"/>
                <a:cs typeface="Calibri" pitchFamily="34" charset="-120"/>
              </a:rPr>
              <a:t>Dimming / PWM control</a:t>
            </a:r>
            <a:endParaRPr lang="en-US" sz="1150"/>
          </a:p>
        </p:txBody>
      </p:sp>
      <p:sp>
        <p:nvSpPr>
          <p:cNvPr id="35" name="Shape 32"/>
          <p:cNvSpPr/>
          <p:nvPr/>
        </p:nvSpPr>
        <p:spPr>
          <a:xfrm>
            <a:off x="2889504" y="2615184"/>
            <a:ext cx="100584" cy="100584"/>
          </a:xfrm>
          <a:prstGeom prst="ellipse">
            <a:avLst/>
          </a:prstGeom>
          <a:solidFill>
            <a:srgbClr val="00B4D8"/>
          </a:solidFill>
          <a:ln w="12700">
            <a:solidFill>
              <a:srgbClr val="00B4D8"/>
            </a:solidFill>
            <a:prstDash val="solid"/>
          </a:ln>
        </p:spPr>
      </p:sp>
      <p:sp>
        <p:nvSpPr>
          <p:cNvPr id="36" name="Text 33"/>
          <p:cNvSpPr/>
          <p:nvPr/>
        </p:nvSpPr>
        <p:spPr>
          <a:xfrm>
            <a:off x="3090672" y="2496312"/>
            <a:ext cx="2103120" cy="338328"/>
          </a:xfrm>
          <a:prstGeom prst="rect">
            <a:avLst/>
          </a:prstGeom>
          <a:noFill/>
          <a:ln/>
        </p:spPr>
        <p:txBody>
          <a:bodyPr wrap="square" rtlCol="0" anchor="ctr"/>
          <a:lstStyle/>
          <a:p>
            <a:pPr marL="0" indent="0" algn="l">
              <a:buNone/>
            </a:pPr>
            <a:r>
              <a:rPr lang="en-US" sz="1150">
                <a:solidFill>
                  <a:srgbClr val="E8F0FF"/>
                </a:solidFill>
                <a:latin typeface="Calibri" pitchFamily="34" charset="0"/>
                <a:ea typeface="Calibri" pitchFamily="34" charset="-122"/>
                <a:cs typeface="Calibri" pitchFamily="34" charset="-120"/>
              </a:rPr>
              <a:t>Street lighting extension</a:t>
            </a:r>
            <a:endParaRPr lang="en-US" sz="1150"/>
          </a:p>
        </p:txBody>
      </p:sp>
      <p:sp>
        <p:nvSpPr>
          <p:cNvPr id="37" name="Shape 34"/>
          <p:cNvSpPr/>
          <p:nvPr/>
        </p:nvSpPr>
        <p:spPr>
          <a:xfrm>
            <a:off x="2889504" y="2971800"/>
            <a:ext cx="100584" cy="100584"/>
          </a:xfrm>
          <a:prstGeom prst="ellipse">
            <a:avLst/>
          </a:prstGeom>
          <a:solidFill>
            <a:srgbClr val="00B4D8"/>
          </a:solidFill>
          <a:ln w="12700">
            <a:solidFill>
              <a:srgbClr val="00B4D8"/>
            </a:solidFill>
            <a:prstDash val="solid"/>
          </a:ln>
        </p:spPr>
      </p:sp>
      <p:sp>
        <p:nvSpPr>
          <p:cNvPr id="38" name="Text 35"/>
          <p:cNvSpPr/>
          <p:nvPr/>
        </p:nvSpPr>
        <p:spPr>
          <a:xfrm>
            <a:off x="3090672" y="2852928"/>
            <a:ext cx="2103120" cy="338328"/>
          </a:xfrm>
          <a:prstGeom prst="rect">
            <a:avLst/>
          </a:prstGeom>
          <a:noFill/>
          <a:ln/>
        </p:spPr>
        <p:txBody>
          <a:bodyPr wrap="square" rtlCol="0" anchor="ctr"/>
          <a:lstStyle/>
          <a:p>
            <a:pPr marL="0" indent="0" algn="l">
              <a:buNone/>
            </a:pPr>
            <a:r>
              <a:rPr lang="en-US" sz="1150">
                <a:solidFill>
                  <a:srgbClr val="E8F0FF"/>
                </a:solidFill>
                <a:latin typeface="Calibri" pitchFamily="34" charset="0"/>
                <a:ea typeface="Calibri" pitchFamily="34" charset="-122"/>
                <a:cs typeface="Calibri" pitchFamily="34" charset="-120"/>
              </a:rPr>
              <a:t>Edge ML deployment</a:t>
            </a:r>
            <a:endParaRPr lang="en-US" sz="1150"/>
          </a:p>
        </p:txBody>
      </p:sp>
      <p:sp>
        <p:nvSpPr>
          <p:cNvPr id="39" name="Shape 36"/>
          <p:cNvSpPr/>
          <p:nvPr/>
        </p:nvSpPr>
        <p:spPr>
          <a:xfrm>
            <a:off x="5486400" y="960120"/>
            <a:ext cx="3429000" cy="3794760"/>
          </a:xfrm>
          <a:prstGeom prst="rect">
            <a:avLst/>
          </a:prstGeom>
          <a:solidFill>
            <a:srgbClr val="0A1E35"/>
          </a:solidFill>
          <a:ln w="15240">
            <a:solidFill>
              <a:srgbClr val="F5A623"/>
            </a:solidFill>
            <a:prstDash val="dash"/>
          </a:ln>
        </p:spPr>
      </p:sp>
      <p:sp>
        <p:nvSpPr>
          <p:cNvPr id="40" name="Text 37"/>
          <p:cNvSpPr/>
          <p:nvPr/>
        </p:nvSpPr>
        <p:spPr>
          <a:xfrm>
            <a:off x="5486400" y="960120"/>
            <a:ext cx="3429000" cy="3794760"/>
          </a:xfrm>
          <a:prstGeom prst="rect">
            <a:avLst/>
          </a:prstGeom>
          <a:noFill/>
          <a:ln/>
        </p:spPr>
        <p:txBody>
          <a:bodyPr wrap="square" rtlCol="0" anchor="ctr"/>
          <a:lstStyle/>
          <a:p>
            <a:pPr marL="0" indent="0" algn="ctr">
              <a:buNone/>
            </a:pPr>
            <a:r>
              <a:rPr lang="en-US" sz="1050" i="1">
                <a:solidFill>
                  <a:srgbClr val="F5A623"/>
                </a:solidFill>
                <a:latin typeface="Calibri" pitchFamily="34" charset="0"/>
                <a:ea typeface="Calibri" pitchFamily="34" charset="-122"/>
                <a:cs typeface="Calibri" pitchFamily="34" charset="-120"/>
              </a:rPr>
              <a:t>[ House Model Photo</a:t>
            </a:r>
            <a:endParaRPr lang="en-US" sz="1050"/>
          </a:p>
          <a:p>
            <a:pPr marL="0" indent="0" algn="ctr">
              <a:buNone/>
            </a:pPr>
            <a:r>
              <a:rPr lang="en-US" sz="1050" i="1">
                <a:solidFill>
                  <a:srgbClr val="F5A623"/>
                </a:solidFill>
                <a:latin typeface="Calibri" pitchFamily="34" charset="0"/>
                <a:ea typeface="Calibri" pitchFamily="34" charset="-122"/>
                <a:cs typeface="Calibri" pitchFamily="34" charset="-120"/>
              </a:rPr>
              <a:t>or</a:t>
            </a:r>
            <a:endParaRPr lang="en-US" sz="1050"/>
          </a:p>
          <a:p>
            <a:pPr marL="0" indent="0" algn="ctr">
              <a:buNone/>
            </a:pPr>
            <a:r>
              <a:rPr lang="en-US" sz="1050" i="1">
                <a:solidFill>
                  <a:srgbClr val="F5A623"/>
                </a:solidFill>
                <a:latin typeface="Calibri" pitchFamily="34" charset="0"/>
                <a:ea typeface="Calibri" pitchFamily="34" charset="-122"/>
                <a:cs typeface="Calibri" pitchFamily="34" charset="-120"/>
              </a:rPr>
              <a:t>LED ON / OFF Demo</a:t>
            </a:r>
            <a:endParaRPr lang="en-US" sz="1050"/>
          </a:p>
          <a:p>
            <a:pPr marL="0" indent="0" algn="ctr">
              <a:buNone/>
            </a:pPr>
            <a:r>
              <a:rPr lang="en-US" sz="1050" i="1">
                <a:solidFill>
                  <a:srgbClr val="F5A623"/>
                </a:solidFill>
                <a:latin typeface="Calibri" pitchFamily="34" charset="0"/>
                <a:ea typeface="Calibri" pitchFamily="34" charset="-122"/>
                <a:cs typeface="Calibri" pitchFamily="34" charset="-120"/>
              </a:rPr>
              <a:t>or</a:t>
            </a:r>
            <a:endParaRPr lang="en-US" sz="1050"/>
          </a:p>
          <a:p>
            <a:pPr marL="0" indent="0" algn="ctr">
              <a:buNone/>
            </a:pPr>
            <a:r>
              <a:rPr lang="en-US" sz="1050" i="1">
                <a:solidFill>
                  <a:srgbClr val="F5A623"/>
                </a:solidFill>
                <a:latin typeface="Calibri" pitchFamily="34" charset="0"/>
                <a:ea typeface="Calibri" pitchFamily="34" charset="-122"/>
                <a:cs typeface="Calibri" pitchFamily="34" charset="-120"/>
              </a:rPr>
              <a:t>Full Prototype Inside</a:t>
            </a:r>
            <a:endParaRPr lang="en-US" sz="1050"/>
          </a:p>
          <a:p>
            <a:pPr marL="0" indent="0" algn="ctr">
              <a:buNone/>
            </a:pPr>
            <a:r>
              <a:rPr lang="en-US" sz="1050" i="1">
                <a:solidFill>
                  <a:srgbClr val="F5A623"/>
                </a:solidFill>
                <a:latin typeface="Calibri" pitchFamily="34" charset="0"/>
                <a:ea typeface="Calibri" pitchFamily="34" charset="-122"/>
                <a:cs typeface="Calibri" pitchFamily="34" charset="-120"/>
              </a:rPr>
              <a:t>House Model ]</a:t>
            </a:r>
            <a:endParaRPr lang="en-US" sz="1050"/>
          </a:p>
        </p:txBody>
      </p:sp>
      <p:sp>
        <p:nvSpPr>
          <p:cNvPr id="41" name="Shape 38"/>
          <p:cNvSpPr/>
          <p:nvPr/>
        </p:nvSpPr>
        <p:spPr>
          <a:xfrm>
            <a:off x="0" y="4937760"/>
            <a:ext cx="9144000" cy="205740"/>
          </a:xfrm>
          <a:prstGeom prst="rect">
            <a:avLst/>
          </a:prstGeom>
          <a:solidFill>
            <a:srgbClr val="060F1C"/>
          </a:solidFill>
          <a:ln w="12700">
            <a:solidFill>
              <a:srgbClr val="060F1C"/>
            </a:solidFill>
            <a:prstDash val="solid"/>
          </a:ln>
        </p:spPr>
      </p:sp>
      <p:pic>
        <p:nvPicPr>
          <p:cNvPr id="44" name="Picture 43">
            <a:extLst>
              <a:ext uri="{FF2B5EF4-FFF2-40B4-BE49-F238E27FC236}">
                <a16:creationId xmlns:a16="http://schemas.microsoft.com/office/drawing/2014/main" id="{F5F428DD-0FD3-5507-70E2-B2B73A55D1D9}"/>
              </a:ext>
            </a:extLst>
          </p:cNvPr>
          <p:cNvPicPr>
            <a:picLocks noChangeAspect="1"/>
          </p:cNvPicPr>
          <p:nvPr/>
        </p:nvPicPr>
        <p:blipFill>
          <a:blip r:embed="rId4"/>
          <a:stretch>
            <a:fillRect/>
          </a:stretch>
        </p:blipFill>
        <p:spPr>
          <a:xfrm>
            <a:off x="5456321" y="958676"/>
            <a:ext cx="3516831" cy="381449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40D1A"/>
        </a:solidFill>
        <a:effectLst/>
      </p:bgPr>
    </p:bg>
    <p:spTree>
      <p:nvGrpSpPr>
        <p:cNvPr id="1" name=""/>
        <p:cNvGrpSpPr/>
        <p:nvPr/>
      </p:nvGrpSpPr>
      <p:grpSpPr>
        <a:xfrm>
          <a:off x="0" y="0"/>
          <a:ext cx="0" cy="0"/>
          <a:chOff x="0" y="0"/>
          <a:chExt cx="0" cy="0"/>
        </a:xfrm>
      </p:grpSpPr>
      <p:sp>
        <p:nvSpPr>
          <p:cNvPr id="2" name="Shape 0"/>
          <p:cNvSpPr/>
          <p:nvPr/>
        </p:nvSpPr>
        <p:spPr>
          <a:xfrm>
            <a:off x="5029200" y="2286000"/>
            <a:ext cx="5486400" cy="5486400"/>
          </a:xfrm>
          <a:prstGeom prst="ellipse">
            <a:avLst/>
          </a:prstGeom>
          <a:solidFill>
            <a:srgbClr val="F5A623">
              <a:alpha val="8000"/>
            </a:srgbClr>
          </a:solidFill>
          <a:ln/>
        </p:spPr>
      </p:sp>
      <p:sp>
        <p:nvSpPr>
          <p:cNvPr id="3" name="Shape 1"/>
          <p:cNvSpPr/>
          <p:nvPr/>
        </p:nvSpPr>
        <p:spPr>
          <a:xfrm>
            <a:off x="6400800" y="3200400"/>
            <a:ext cx="3200400" cy="3200400"/>
          </a:xfrm>
          <a:prstGeom prst="ellipse">
            <a:avLst/>
          </a:prstGeom>
          <a:solidFill>
            <a:srgbClr val="F5A623">
              <a:alpha val="17000"/>
            </a:srgbClr>
          </a:solidFill>
          <a:ln/>
        </p:spPr>
      </p:sp>
      <p:sp>
        <p:nvSpPr>
          <p:cNvPr id="4" name="Shape 2"/>
          <p:cNvSpPr/>
          <p:nvPr/>
        </p:nvSpPr>
        <p:spPr>
          <a:xfrm>
            <a:off x="0" y="0"/>
            <a:ext cx="9144000" cy="64008"/>
          </a:xfrm>
          <a:prstGeom prst="rect">
            <a:avLst/>
          </a:prstGeom>
          <a:solidFill>
            <a:srgbClr val="F5A623"/>
          </a:solidFill>
          <a:ln w="12700">
            <a:solidFill>
              <a:srgbClr val="F5A623"/>
            </a:solidFill>
            <a:prstDash val="solid"/>
          </a:ln>
        </p:spPr>
      </p:sp>
      <p:sp>
        <p:nvSpPr>
          <p:cNvPr id="5" name="Shape 3"/>
          <p:cNvSpPr/>
          <p:nvPr/>
        </p:nvSpPr>
        <p:spPr>
          <a:xfrm>
            <a:off x="365760" y="164592"/>
            <a:ext cx="1554480" cy="310896"/>
          </a:xfrm>
          <a:prstGeom prst="rect">
            <a:avLst/>
          </a:prstGeom>
          <a:solidFill>
            <a:srgbClr val="F5A623"/>
          </a:solidFill>
          <a:ln w="12700">
            <a:solidFill>
              <a:srgbClr val="F5A623"/>
            </a:solidFill>
            <a:prstDash val="solid"/>
          </a:ln>
        </p:spPr>
      </p:sp>
      <p:sp>
        <p:nvSpPr>
          <p:cNvPr id="6" name="Text 4"/>
          <p:cNvSpPr/>
          <p:nvPr/>
        </p:nvSpPr>
        <p:spPr>
          <a:xfrm>
            <a:off x="365760" y="164592"/>
            <a:ext cx="1554480" cy="310896"/>
          </a:xfrm>
          <a:prstGeom prst="rect">
            <a:avLst/>
          </a:prstGeom>
          <a:noFill/>
          <a:ln/>
        </p:spPr>
        <p:txBody>
          <a:bodyPr wrap="square" rtlCol="0" anchor="ctr"/>
          <a:lstStyle/>
          <a:p>
            <a:pPr marL="0" indent="0" algn="ctr">
              <a:buNone/>
            </a:pPr>
            <a:r>
              <a:rPr lang="en-US" sz="1100" b="1">
                <a:solidFill>
                  <a:srgbClr val="040D1A"/>
                </a:solidFill>
                <a:latin typeface="Calibri" pitchFamily="34" charset="0"/>
                <a:ea typeface="Calibri" pitchFamily="34" charset="-122"/>
                <a:cs typeface="Calibri" pitchFamily="34" charset="-120"/>
              </a:rPr>
              <a:t>Conclusion</a:t>
            </a:r>
            <a:endParaRPr lang="en-US" sz="1100"/>
          </a:p>
        </p:txBody>
      </p:sp>
      <p:pic>
        <p:nvPicPr>
          <p:cNvPr id="7" name="Image 0" descr="preencoded.png"/>
          <p:cNvPicPr>
            <a:picLocks noChangeAspect="1"/>
          </p:cNvPicPr>
          <p:nvPr/>
        </p:nvPicPr>
        <p:blipFill>
          <a:blip r:embed="rId3"/>
          <a:stretch>
            <a:fillRect/>
          </a:stretch>
        </p:blipFill>
        <p:spPr>
          <a:xfrm>
            <a:off x="8229600" y="137160"/>
            <a:ext cx="548640" cy="548640"/>
          </a:xfrm>
          <a:prstGeom prst="rect">
            <a:avLst/>
          </a:prstGeom>
        </p:spPr>
      </p:pic>
      <p:sp>
        <p:nvSpPr>
          <p:cNvPr id="8" name="Text 5"/>
          <p:cNvSpPr/>
          <p:nvPr/>
        </p:nvSpPr>
        <p:spPr>
          <a:xfrm>
            <a:off x="457200" y="640080"/>
            <a:ext cx="6858000" cy="1051560"/>
          </a:xfrm>
          <a:prstGeom prst="rect">
            <a:avLst/>
          </a:prstGeom>
          <a:noFill/>
          <a:ln/>
        </p:spPr>
        <p:txBody>
          <a:bodyPr wrap="square" rtlCol="0" anchor="ctr"/>
          <a:lstStyle/>
          <a:p>
            <a:pPr marL="0" indent="0" algn="l">
              <a:buNone/>
            </a:pPr>
            <a:r>
              <a:rPr lang="en-US" sz="3000" b="1">
                <a:solidFill>
                  <a:srgbClr val="FFFFFF"/>
                </a:solidFill>
                <a:latin typeface="Calibri" pitchFamily="34" charset="0"/>
                <a:ea typeface="Calibri" pitchFamily="34" charset="-122"/>
                <a:cs typeface="Calibri" pitchFamily="34" charset="-120"/>
              </a:rPr>
              <a:t>Intelligent Light Intensity</a:t>
            </a:r>
            <a:endParaRPr lang="en-US" sz="3000"/>
          </a:p>
          <a:p>
            <a:pPr marL="0" indent="0" algn="l">
              <a:buNone/>
            </a:pPr>
            <a:r>
              <a:rPr lang="en-US" sz="3000" b="1">
                <a:solidFill>
                  <a:srgbClr val="FFFFFF"/>
                </a:solidFill>
                <a:latin typeface="Calibri" pitchFamily="34" charset="0"/>
                <a:ea typeface="Calibri" pitchFamily="34" charset="-122"/>
                <a:cs typeface="Calibri" pitchFamily="34" charset="-120"/>
              </a:rPr>
              <a:t>Measurement System</a:t>
            </a:r>
            <a:endParaRPr lang="en-US" sz="3000"/>
          </a:p>
        </p:txBody>
      </p:sp>
      <p:sp>
        <p:nvSpPr>
          <p:cNvPr id="9" name="Text 6"/>
          <p:cNvSpPr/>
          <p:nvPr/>
        </p:nvSpPr>
        <p:spPr>
          <a:xfrm>
            <a:off x="457200" y="1664208"/>
            <a:ext cx="6858000" cy="384048"/>
          </a:xfrm>
          <a:prstGeom prst="rect">
            <a:avLst/>
          </a:prstGeom>
          <a:noFill/>
          <a:ln/>
        </p:spPr>
        <p:txBody>
          <a:bodyPr wrap="square" rtlCol="0" anchor="ctr"/>
          <a:lstStyle/>
          <a:p>
            <a:pPr marL="0" indent="0" algn="l">
              <a:buNone/>
            </a:pPr>
            <a:r>
              <a:rPr lang="en-US" sz="1500" i="1">
                <a:solidFill>
                  <a:srgbClr val="FFD580"/>
                </a:solidFill>
                <a:latin typeface="Calibri" pitchFamily="34" charset="0"/>
                <a:ea typeface="Calibri" pitchFamily="34" charset="-122"/>
                <a:cs typeface="Calibri" pitchFamily="34" charset="-120"/>
              </a:rPr>
              <a:t>with Auto-Calibration Using Machine Learning</a:t>
            </a:r>
            <a:endParaRPr lang="en-US" sz="1500"/>
          </a:p>
        </p:txBody>
      </p:sp>
      <p:sp>
        <p:nvSpPr>
          <p:cNvPr id="10" name="Shape 7"/>
          <p:cNvSpPr/>
          <p:nvPr/>
        </p:nvSpPr>
        <p:spPr>
          <a:xfrm>
            <a:off x="457200" y="2148840"/>
            <a:ext cx="5029200" cy="45720"/>
          </a:xfrm>
          <a:prstGeom prst="rect">
            <a:avLst/>
          </a:prstGeom>
          <a:solidFill>
            <a:srgbClr val="00B4D8"/>
          </a:solidFill>
          <a:ln w="12700">
            <a:solidFill>
              <a:srgbClr val="00B4D8"/>
            </a:solidFill>
            <a:prstDash val="solid"/>
          </a:ln>
        </p:spPr>
      </p:sp>
      <p:sp>
        <p:nvSpPr>
          <p:cNvPr id="11" name="Shape 8"/>
          <p:cNvSpPr/>
          <p:nvPr/>
        </p:nvSpPr>
        <p:spPr>
          <a:xfrm>
            <a:off x="457200" y="2404872"/>
            <a:ext cx="128016" cy="128016"/>
          </a:xfrm>
          <a:prstGeom prst="ellipse">
            <a:avLst/>
          </a:prstGeom>
          <a:solidFill>
            <a:srgbClr val="F5A623"/>
          </a:solidFill>
          <a:ln w="12700">
            <a:solidFill>
              <a:srgbClr val="F5A623"/>
            </a:solidFill>
            <a:prstDash val="solid"/>
          </a:ln>
        </p:spPr>
      </p:sp>
      <p:sp>
        <p:nvSpPr>
          <p:cNvPr id="12" name="Text 9"/>
          <p:cNvSpPr/>
          <p:nvPr/>
        </p:nvSpPr>
        <p:spPr>
          <a:xfrm>
            <a:off x="694944" y="2286000"/>
            <a:ext cx="5029200" cy="365760"/>
          </a:xfrm>
          <a:prstGeom prst="rect">
            <a:avLst/>
          </a:prstGeom>
          <a:noFill/>
          <a:ln/>
        </p:spPr>
        <p:txBody>
          <a:bodyPr wrap="square" rtlCol="0" anchor="ctr"/>
          <a:lstStyle/>
          <a:p>
            <a:pPr marL="0" indent="0" algn="l">
              <a:buNone/>
            </a:pPr>
            <a:r>
              <a:rPr lang="en-US" sz="1250">
                <a:solidFill>
                  <a:srgbClr val="E8F0FF"/>
                </a:solidFill>
                <a:latin typeface="Calibri" pitchFamily="34" charset="0"/>
                <a:ea typeface="Calibri" pitchFamily="34" charset="-122"/>
                <a:cs typeface="Calibri" pitchFamily="34" charset="-120"/>
              </a:rPr>
              <a:t>Developed an ESP32-based intelligent light measurement system</a:t>
            </a:r>
            <a:endParaRPr lang="en-US" sz="1250"/>
          </a:p>
        </p:txBody>
      </p:sp>
      <p:sp>
        <p:nvSpPr>
          <p:cNvPr id="13" name="Shape 10"/>
          <p:cNvSpPr/>
          <p:nvPr/>
        </p:nvSpPr>
        <p:spPr>
          <a:xfrm>
            <a:off x="457200" y="2788920"/>
            <a:ext cx="128016" cy="128016"/>
          </a:xfrm>
          <a:prstGeom prst="ellipse">
            <a:avLst/>
          </a:prstGeom>
          <a:solidFill>
            <a:srgbClr val="F5A623"/>
          </a:solidFill>
          <a:ln w="12700">
            <a:solidFill>
              <a:srgbClr val="F5A623"/>
            </a:solidFill>
            <a:prstDash val="solid"/>
          </a:ln>
        </p:spPr>
      </p:sp>
      <p:sp>
        <p:nvSpPr>
          <p:cNvPr id="14" name="Text 11"/>
          <p:cNvSpPr/>
          <p:nvPr/>
        </p:nvSpPr>
        <p:spPr>
          <a:xfrm>
            <a:off x="694944" y="2670048"/>
            <a:ext cx="5029200" cy="365760"/>
          </a:xfrm>
          <a:prstGeom prst="rect">
            <a:avLst/>
          </a:prstGeom>
          <a:noFill/>
          <a:ln/>
        </p:spPr>
        <p:txBody>
          <a:bodyPr wrap="square" rtlCol="0" anchor="ctr"/>
          <a:lstStyle/>
          <a:p>
            <a:pPr marL="0" indent="0" algn="l">
              <a:buNone/>
            </a:pPr>
            <a:r>
              <a:rPr lang="en-US" sz="1250">
                <a:solidFill>
                  <a:srgbClr val="E8F0FF"/>
                </a:solidFill>
                <a:latin typeface="Calibri" pitchFamily="34" charset="0"/>
                <a:ea typeface="Calibri" pitchFamily="34" charset="-122"/>
                <a:cs typeface="Calibri" pitchFamily="34" charset="-120"/>
              </a:rPr>
              <a:t>Improved low-cost LDR reliability using ML calibration</a:t>
            </a:r>
            <a:endParaRPr lang="en-US" sz="1250"/>
          </a:p>
        </p:txBody>
      </p:sp>
      <p:sp>
        <p:nvSpPr>
          <p:cNvPr id="15" name="Shape 12"/>
          <p:cNvSpPr/>
          <p:nvPr/>
        </p:nvSpPr>
        <p:spPr>
          <a:xfrm>
            <a:off x="457200" y="3172968"/>
            <a:ext cx="128016" cy="128016"/>
          </a:xfrm>
          <a:prstGeom prst="ellipse">
            <a:avLst/>
          </a:prstGeom>
          <a:solidFill>
            <a:srgbClr val="F5A623"/>
          </a:solidFill>
          <a:ln w="12700">
            <a:solidFill>
              <a:srgbClr val="F5A623"/>
            </a:solidFill>
            <a:prstDash val="solid"/>
          </a:ln>
        </p:spPr>
      </p:sp>
      <p:sp>
        <p:nvSpPr>
          <p:cNvPr id="16" name="Text 13"/>
          <p:cNvSpPr/>
          <p:nvPr/>
        </p:nvSpPr>
        <p:spPr>
          <a:xfrm>
            <a:off x="694944" y="3054096"/>
            <a:ext cx="5029200" cy="365760"/>
          </a:xfrm>
          <a:prstGeom prst="rect">
            <a:avLst/>
          </a:prstGeom>
          <a:noFill/>
          <a:ln/>
        </p:spPr>
        <p:txBody>
          <a:bodyPr wrap="square" rtlCol="0" anchor="ctr"/>
          <a:lstStyle/>
          <a:p>
            <a:pPr marL="0" indent="0" algn="l">
              <a:buNone/>
            </a:pPr>
            <a:r>
              <a:rPr lang="en-US" sz="1250">
                <a:solidFill>
                  <a:srgbClr val="E8F0FF"/>
                </a:solidFill>
                <a:latin typeface="Calibri" pitchFamily="34" charset="0"/>
                <a:ea typeface="Calibri" pitchFamily="34" charset="-122"/>
                <a:cs typeface="Calibri" pitchFamily="34" charset="-120"/>
              </a:rPr>
              <a:t>Used TSL2561 as reference sensor, BH1750 for validation</a:t>
            </a:r>
            <a:endParaRPr lang="en-US" sz="1250"/>
          </a:p>
        </p:txBody>
      </p:sp>
      <p:sp>
        <p:nvSpPr>
          <p:cNvPr id="17" name="Shape 14"/>
          <p:cNvSpPr/>
          <p:nvPr/>
        </p:nvSpPr>
        <p:spPr>
          <a:xfrm>
            <a:off x="457200" y="3557016"/>
            <a:ext cx="128016" cy="128016"/>
          </a:xfrm>
          <a:prstGeom prst="ellipse">
            <a:avLst/>
          </a:prstGeom>
          <a:solidFill>
            <a:srgbClr val="F5A623"/>
          </a:solidFill>
          <a:ln w="12700">
            <a:solidFill>
              <a:srgbClr val="F5A623"/>
            </a:solidFill>
            <a:prstDash val="solid"/>
          </a:ln>
        </p:spPr>
      </p:sp>
      <p:sp>
        <p:nvSpPr>
          <p:cNvPr id="18" name="Text 15"/>
          <p:cNvSpPr/>
          <p:nvPr/>
        </p:nvSpPr>
        <p:spPr>
          <a:xfrm>
            <a:off x="694944" y="3438144"/>
            <a:ext cx="5029200" cy="365760"/>
          </a:xfrm>
          <a:prstGeom prst="rect">
            <a:avLst/>
          </a:prstGeom>
          <a:noFill/>
          <a:ln/>
        </p:spPr>
        <p:txBody>
          <a:bodyPr wrap="square" rtlCol="0" anchor="ctr"/>
          <a:lstStyle/>
          <a:p>
            <a:pPr marL="0" indent="0" algn="l">
              <a:buNone/>
            </a:pPr>
            <a:r>
              <a:rPr lang="en-US" sz="1250">
                <a:solidFill>
                  <a:srgbClr val="E8F0FF"/>
                </a:solidFill>
                <a:latin typeface="Calibri" pitchFamily="34" charset="0"/>
                <a:ea typeface="Calibri" pitchFamily="34" charset="-122"/>
                <a:cs typeface="Calibri" pitchFamily="34" charset="-120"/>
              </a:rPr>
              <a:t>Predicted calibrated lux in real time on the device</a:t>
            </a:r>
            <a:endParaRPr lang="en-US" sz="1250"/>
          </a:p>
        </p:txBody>
      </p:sp>
      <p:sp>
        <p:nvSpPr>
          <p:cNvPr id="19" name="Shape 16"/>
          <p:cNvSpPr/>
          <p:nvPr/>
        </p:nvSpPr>
        <p:spPr>
          <a:xfrm>
            <a:off x="457200" y="3941064"/>
            <a:ext cx="128016" cy="128016"/>
          </a:xfrm>
          <a:prstGeom prst="ellipse">
            <a:avLst/>
          </a:prstGeom>
          <a:solidFill>
            <a:srgbClr val="F5A623"/>
          </a:solidFill>
          <a:ln w="12700">
            <a:solidFill>
              <a:srgbClr val="F5A623"/>
            </a:solidFill>
            <a:prstDash val="solid"/>
          </a:ln>
        </p:spPr>
      </p:sp>
      <p:sp>
        <p:nvSpPr>
          <p:cNvPr id="20" name="Text 17"/>
          <p:cNvSpPr/>
          <p:nvPr/>
        </p:nvSpPr>
        <p:spPr>
          <a:xfrm>
            <a:off x="694944" y="3822192"/>
            <a:ext cx="5029200" cy="365760"/>
          </a:xfrm>
          <a:prstGeom prst="rect">
            <a:avLst/>
          </a:prstGeom>
          <a:noFill/>
          <a:ln/>
        </p:spPr>
        <p:txBody>
          <a:bodyPr wrap="square" rtlCol="0" anchor="ctr"/>
          <a:lstStyle/>
          <a:p>
            <a:pPr marL="0" indent="0" algn="l">
              <a:buNone/>
            </a:pPr>
            <a:r>
              <a:rPr lang="en-US" sz="1250">
                <a:solidFill>
                  <a:srgbClr val="E8F0FF"/>
                </a:solidFill>
                <a:latin typeface="Calibri" pitchFamily="34" charset="0"/>
                <a:ea typeface="Calibri" pitchFamily="34" charset="-122"/>
                <a:cs typeface="Calibri" pitchFamily="34" charset="-120"/>
              </a:rPr>
              <a:t>Demonstrated automatic lighting control in a house model</a:t>
            </a:r>
            <a:endParaRPr lang="en-US" sz="1250"/>
          </a:p>
        </p:txBody>
      </p:sp>
      <p:sp>
        <p:nvSpPr>
          <p:cNvPr id="21" name="Shape 18"/>
          <p:cNvSpPr/>
          <p:nvPr/>
        </p:nvSpPr>
        <p:spPr>
          <a:xfrm>
            <a:off x="457200" y="4325112"/>
            <a:ext cx="128016" cy="128016"/>
          </a:xfrm>
          <a:prstGeom prst="ellipse">
            <a:avLst/>
          </a:prstGeom>
          <a:solidFill>
            <a:srgbClr val="F5A623"/>
          </a:solidFill>
          <a:ln w="12700">
            <a:solidFill>
              <a:srgbClr val="F5A623"/>
            </a:solidFill>
            <a:prstDash val="solid"/>
          </a:ln>
        </p:spPr>
      </p:sp>
      <p:sp>
        <p:nvSpPr>
          <p:cNvPr id="22" name="Text 19"/>
          <p:cNvSpPr/>
          <p:nvPr/>
        </p:nvSpPr>
        <p:spPr>
          <a:xfrm>
            <a:off x="694944" y="4206240"/>
            <a:ext cx="5029200" cy="365760"/>
          </a:xfrm>
          <a:prstGeom prst="rect">
            <a:avLst/>
          </a:prstGeom>
          <a:noFill/>
          <a:ln/>
        </p:spPr>
        <p:txBody>
          <a:bodyPr wrap="square" rtlCol="0" anchor="ctr"/>
          <a:lstStyle/>
          <a:p>
            <a:pPr marL="0" indent="0" algn="l">
              <a:buNone/>
            </a:pPr>
            <a:r>
              <a:rPr lang="en-US" sz="1250">
                <a:solidFill>
                  <a:srgbClr val="E8F0FF"/>
                </a:solidFill>
                <a:latin typeface="Calibri" pitchFamily="34" charset="0"/>
                <a:ea typeface="Calibri" pitchFamily="34" charset="-122"/>
                <a:cs typeface="Calibri" pitchFamily="34" charset="-120"/>
              </a:rPr>
              <a:t>Proved low-cost intelligent indoor automation is practical</a:t>
            </a:r>
            <a:endParaRPr lang="en-US" sz="1250"/>
          </a:p>
        </p:txBody>
      </p:sp>
      <p:sp>
        <p:nvSpPr>
          <p:cNvPr id="24" name="Text 21"/>
          <p:cNvSpPr/>
          <p:nvPr/>
        </p:nvSpPr>
        <p:spPr>
          <a:xfrm>
            <a:off x="6217920" y="2194560"/>
            <a:ext cx="2651760" cy="2514600"/>
          </a:xfrm>
          <a:prstGeom prst="rect">
            <a:avLst/>
          </a:prstGeom>
          <a:noFill/>
          <a:ln/>
        </p:spPr>
        <p:txBody>
          <a:bodyPr wrap="square" rtlCol="0" anchor="ctr"/>
          <a:lstStyle/>
          <a:p>
            <a:pPr marL="0" indent="0" algn="ctr">
              <a:buNone/>
            </a:pPr>
            <a:endParaRPr lang="en-US" sz="10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11</Slides>
  <Notes>11</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Light Intensity Measurement System</dc:title>
  <dc:subject>PptxGenJS Presentation</dc:subject>
  <dc:creator>PptxGenJS</dc:creator>
  <cp:lastModifiedBy>ay567004@gmail.com</cp:lastModifiedBy>
  <cp:revision>1</cp:revision>
  <dcterms:created xsi:type="dcterms:W3CDTF">2026-04-02T21:29:23Z</dcterms:created>
  <dcterms:modified xsi:type="dcterms:W3CDTF">2026-04-03T17:57:03Z</dcterms:modified>
</cp:coreProperties>
</file>